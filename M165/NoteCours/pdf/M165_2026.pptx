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80" r:id="rId5"/>
    <p:sldId id="258" r:id="rId6"/>
    <p:sldId id="260" r:id="rId7"/>
    <p:sldId id="262" r:id="rId8"/>
    <p:sldId id="263" r:id="rId9"/>
    <p:sldId id="264" r:id="rId10"/>
    <p:sldId id="261" r:id="rId11"/>
    <p:sldId id="266" r:id="rId12"/>
    <p:sldId id="267" r:id="rId13"/>
    <p:sldId id="268" r:id="rId14"/>
    <p:sldId id="269" r:id="rId15"/>
    <p:sldId id="270" r:id="rId16"/>
    <p:sldId id="272" r:id="rId17"/>
    <p:sldId id="271" r:id="rId18"/>
    <p:sldId id="273" r:id="rId19"/>
    <p:sldId id="274" r:id="rId20"/>
    <p:sldId id="275" r:id="rId21"/>
    <p:sldId id="276" r:id="rId22"/>
    <p:sldId id="277" r:id="rId23"/>
    <p:sldId id="278" r:id="rId24"/>
    <p:sldId id="279" r:id="rId25"/>
    <p:sldId id="281" r:id="rId26"/>
    <p:sldId id="282" r:id="rId27"/>
    <p:sldId id="283" r:id="rId28"/>
    <p:sldId id="2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10" d="100"/>
          <a:sy n="110" d="100"/>
        </p:scale>
        <p:origin x="63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B51AC4-AC3C-E081-374B-0198C1FE8B3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F825FD5E-4A48-0913-EBED-56763A1B9F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88E2FD72-1260-0298-8C4F-3043FDF7623D}"/>
              </a:ext>
            </a:extLst>
          </p:cNvPr>
          <p:cNvSpPr>
            <a:spLocks noGrp="1"/>
          </p:cNvSpPr>
          <p:nvPr>
            <p:ph type="dt" sz="half" idx="10"/>
          </p:nvPr>
        </p:nvSpPr>
        <p:spPr/>
        <p:txBody>
          <a:bodyPr/>
          <a:lstStyle/>
          <a:p>
            <a:fld id="{5E0D2D26-9E30-4CDA-8872-00B9C6D22E0D}" type="datetimeFigureOut">
              <a:rPr lang="en-US" smtClean="0"/>
              <a:t>2/11/2026</a:t>
            </a:fld>
            <a:endParaRPr lang="en-US"/>
          </a:p>
        </p:txBody>
      </p:sp>
      <p:sp>
        <p:nvSpPr>
          <p:cNvPr id="5" name="Espace réservé du pied de page 4">
            <a:extLst>
              <a:ext uri="{FF2B5EF4-FFF2-40B4-BE49-F238E27FC236}">
                <a16:creationId xmlns:a16="http://schemas.microsoft.com/office/drawing/2014/main" id="{07276566-FD08-71FC-3E54-4B36007BDFFF}"/>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B4AB277B-6395-8A5C-8C2D-1D9E95E32F31}"/>
              </a:ext>
            </a:extLst>
          </p:cNvPr>
          <p:cNvSpPr>
            <a:spLocks noGrp="1"/>
          </p:cNvSpPr>
          <p:nvPr>
            <p:ph type="sldNum" sz="quarter" idx="12"/>
          </p:nvPr>
        </p:nvSpPr>
        <p:spPr/>
        <p:txBody>
          <a:bodyPr/>
          <a:lstStyle/>
          <a:p>
            <a:fld id="{6709C650-B2CC-4A62-A26E-6381D0BE0A54}" type="slidenum">
              <a:rPr lang="en-US" smtClean="0"/>
              <a:t>‹#›</a:t>
            </a:fld>
            <a:endParaRPr lang="en-US"/>
          </a:p>
        </p:txBody>
      </p:sp>
    </p:spTree>
    <p:extLst>
      <p:ext uri="{BB962C8B-B14F-4D97-AF65-F5344CB8AC3E}">
        <p14:creationId xmlns:p14="http://schemas.microsoft.com/office/powerpoint/2010/main" val="2601002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02697B-14B7-5441-EC73-1FCDF2065C12}"/>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6EF22EDF-2E34-9E18-4058-90F90E48AF4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536DCCA2-0665-7734-8E3B-68F54D457693}"/>
              </a:ext>
            </a:extLst>
          </p:cNvPr>
          <p:cNvSpPr>
            <a:spLocks noGrp="1"/>
          </p:cNvSpPr>
          <p:nvPr>
            <p:ph type="dt" sz="half" idx="10"/>
          </p:nvPr>
        </p:nvSpPr>
        <p:spPr/>
        <p:txBody>
          <a:bodyPr/>
          <a:lstStyle/>
          <a:p>
            <a:fld id="{5E0D2D26-9E30-4CDA-8872-00B9C6D22E0D}" type="datetimeFigureOut">
              <a:rPr lang="en-US" smtClean="0"/>
              <a:t>2/11/2026</a:t>
            </a:fld>
            <a:endParaRPr lang="en-US"/>
          </a:p>
        </p:txBody>
      </p:sp>
      <p:sp>
        <p:nvSpPr>
          <p:cNvPr id="5" name="Espace réservé du pied de page 4">
            <a:extLst>
              <a:ext uri="{FF2B5EF4-FFF2-40B4-BE49-F238E27FC236}">
                <a16:creationId xmlns:a16="http://schemas.microsoft.com/office/drawing/2014/main" id="{33AB0526-AD6D-944B-15EC-33A384742DD4}"/>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1F3B36D5-203C-5B14-8E5C-37BEB331C21B}"/>
              </a:ext>
            </a:extLst>
          </p:cNvPr>
          <p:cNvSpPr>
            <a:spLocks noGrp="1"/>
          </p:cNvSpPr>
          <p:nvPr>
            <p:ph type="sldNum" sz="quarter" idx="12"/>
          </p:nvPr>
        </p:nvSpPr>
        <p:spPr/>
        <p:txBody>
          <a:bodyPr/>
          <a:lstStyle/>
          <a:p>
            <a:fld id="{6709C650-B2CC-4A62-A26E-6381D0BE0A54}" type="slidenum">
              <a:rPr lang="en-US" smtClean="0"/>
              <a:t>‹#›</a:t>
            </a:fld>
            <a:endParaRPr lang="en-US"/>
          </a:p>
        </p:txBody>
      </p:sp>
    </p:spTree>
    <p:extLst>
      <p:ext uri="{BB962C8B-B14F-4D97-AF65-F5344CB8AC3E}">
        <p14:creationId xmlns:p14="http://schemas.microsoft.com/office/powerpoint/2010/main" val="459201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4316AB-CE8F-AEBA-A8FF-ECB5F4CE567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C7F17FE7-B949-41B4-F187-F55BBDD34A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4175C860-ED62-CDD6-B56C-F9E5A752A6C1}"/>
              </a:ext>
            </a:extLst>
          </p:cNvPr>
          <p:cNvSpPr>
            <a:spLocks noGrp="1"/>
          </p:cNvSpPr>
          <p:nvPr>
            <p:ph type="dt" sz="half" idx="10"/>
          </p:nvPr>
        </p:nvSpPr>
        <p:spPr/>
        <p:txBody>
          <a:bodyPr/>
          <a:lstStyle/>
          <a:p>
            <a:fld id="{5E0D2D26-9E30-4CDA-8872-00B9C6D22E0D}" type="datetimeFigureOut">
              <a:rPr lang="en-US" smtClean="0"/>
              <a:t>2/11/2026</a:t>
            </a:fld>
            <a:endParaRPr lang="en-US"/>
          </a:p>
        </p:txBody>
      </p:sp>
      <p:sp>
        <p:nvSpPr>
          <p:cNvPr id="5" name="Espace réservé du pied de page 4">
            <a:extLst>
              <a:ext uri="{FF2B5EF4-FFF2-40B4-BE49-F238E27FC236}">
                <a16:creationId xmlns:a16="http://schemas.microsoft.com/office/drawing/2014/main" id="{885C57DA-85BD-C67D-A240-7157413A6CEF}"/>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72A73B75-E6A3-1D68-8BB0-09538A9FDBE9}"/>
              </a:ext>
            </a:extLst>
          </p:cNvPr>
          <p:cNvSpPr>
            <a:spLocks noGrp="1"/>
          </p:cNvSpPr>
          <p:nvPr>
            <p:ph type="sldNum" sz="quarter" idx="12"/>
          </p:nvPr>
        </p:nvSpPr>
        <p:spPr/>
        <p:txBody>
          <a:bodyPr/>
          <a:lstStyle/>
          <a:p>
            <a:fld id="{6709C650-B2CC-4A62-A26E-6381D0BE0A54}" type="slidenum">
              <a:rPr lang="en-US" smtClean="0"/>
              <a:t>‹#›</a:t>
            </a:fld>
            <a:endParaRPr lang="en-US"/>
          </a:p>
        </p:txBody>
      </p:sp>
    </p:spTree>
    <p:extLst>
      <p:ext uri="{BB962C8B-B14F-4D97-AF65-F5344CB8AC3E}">
        <p14:creationId xmlns:p14="http://schemas.microsoft.com/office/powerpoint/2010/main" val="4271226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D77558-A092-1B7F-B76A-43ED1A5DFBBA}"/>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1FE73946-7A04-4F79-9675-A5694D1C0D0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0FCA2C50-48F9-869A-A044-ED494A6F425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62305486-B712-6B99-76F7-3FD4D8214B14}"/>
              </a:ext>
            </a:extLst>
          </p:cNvPr>
          <p:cNvSpPr>
            <a:spLocks noGrp="1"/>
          </p:cNvSpPr>
          <p:nvPr>
            <p:ph type="dt" sz="half" idx="10"/>
          </p:nvPr>
        </p:nvSpPr>
        <p:spPr/>
        <p:txBody>
          <a:bodyPr/>
          <a:lstStyle/>
          <a:p>
            <a:fld id="{5E0D2D26-9E30-4CDA-8872-00B9C6D22E0D}" type="datetimeFigureOut">
              <a:rPr lang="en-US" smtClean="0"/>
              <a:t>2/11/2026</a:t>
            </a:fld>
            <a:endParaRPr lang="en-US"/>
          </a:p>
        </p:txBody>
      </p:sp>
      <p:sp>
        <p:nvSpPr>
          <p:cNvPr id="6" name="Espace réservé du pied de page 5">
            <a:extLst>
              <a:ext uri="{FF2B5EF4-FFF2-40B4-BE49-F238E27FC236}">
                <a16:creationId xmlns:a16="http://schemas.microsoft.com/office/drawing/2014/main" id="{FB0817F4-00B5-22E8-815E-CDAB976406A3}"/>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A9368D45-E537-B2C9-56E5-71C045CF0195}"/>
              </a:ext>
            </a:extLst>
          </p:cNvPr>
          <p:cNvSpPr>
            <a:spLocks noGrp="1"/>
          </p:cNvSpPr>
          <p:nvPr>
            <p:ph type="sldNum" sz="quarter" idx="12"/>
          </p:nvPr>
        </p:nvSpPr>
        <p:spPr/>
        <p:txBody>
          <a:bodyPr/>
          <a:lstStyle/>
          <a:p>
            <a:fld id="{6709C650-B2CC-4A62-A26E-6381D0BE0A54}" type="slidenum">
              <a:rPr lang="en-US" smtClean="0"/>
              <a:t>‹#›</a:t>
            </a:fld>
            <a:endParaRPr lang="en-US"/>
          </a:p>
        </p:txBody>
      </p:sp>
    </p:spTree>
    <p:extLst>
      <p:ext uri="{BB962C8B-B14F-4D97-AF65-F5344CB8AC3E}">
        <p14:creationId xmlns:p14="http://schemas.microsoft.com/office/powerpoint/2010/main" val="3311599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7FED31-7379-F1BD-4C41-FB72131DE6D3}"/>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C83AB862-33E5-2EAB-B3DC-650A17A4C0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6C7E504-7B51-8CE8-F33D-0908A20503D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D2768A5A-0584-4A84-1DE5-230120AA3A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7B85FFC0-AF39-CD73-E589-9464078CF5C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53EA6A2B-83FF-C598-E68E-A9D183CF5C08}"/>
              </a:ext>
            </a:extLst>
          </p:cNvPr>
          <p:cNvSpPr>
            <a:spLocks noGrp="1"/>
          </p:cNvSpPr>
          <p:nvPr>
            <p:ph type="dt" sz="half" idx="10"/>
          </p:nvPr>
        </p:nvSpPr>
        <p:spPr/>
        <p:txBody>
          <a:bodyPr/>
          <a:lstStyle/>
          <a:p>
            <a:fld id="{5E0D2D26-9E30-4CDA-8872-00B9C6D22E0D}" type="datetimeFigureOut">
              <a:rPr lang="en-US" smtClean="0"/>
              <a:t>2/11/2026</a:t>
            </a:fld>
            <a:endParaRPr lang="en-US"/>
          </a:p>
        </p:txBody>
      </p:sp>
      <p:sp>
        <p:nvSpPr>
          <p:cNvPr id="8" name="Espace réservé du pied de page 7">
            <a:extLst>
              <a:ext uri="{FF2B5EF4-FFF2-40B4-BE49-F238E27FC236}">
                <a16:creationId xmlns:a16="http://schemas.microsoft.com/office/drawing/2014/main" id="{8A6093C3-3527-2708-089D-442B3B033B31}"/>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C2738529-E7AC-D777-C1C3-55E3B1086296}"/>
              </a:ext>
            </a:extLst>
          </p:cNvPr>
          <p:cNvSpPr>
            <a:spLocks noGrp="1"/>
          </p:cNvSpPr>
          <p:nvPr>
            <p:ph type="sldNum" sz="quarter" idx="12"/>
          </p:nvPr>
        </p:nvSpPr>
        <p:spPr/>
        <p:txBody>
          <a:bodyPr/>
          <a:lstStyle/>
          <a:p>
            <a:fld id="{6709C650-B2CC-4A62-A26E-6381D0BE0A54}" type="slidenum">
              <a:rPr lang="en-US" smtClean="0"/>
              <a:t>‹#›</a:t>
            </a:fld>
            <a:endParaRPr lang="en-US"/>
          </a:p>
        </p:txBody>
      </p:sp>
    </p:spTree>
    <p:extLst>
      <p:ext uri="{BB962C8B-B14F-4D97-AF65-F5344CB8AC3E}">
        <p14:creationId xmlns:p14="http://schemas.microsoft.com/office/powerpoint/2010/main" val="1493396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0B4DDA-AACA-A2C9-4CC6-288D34E46BD2}"/>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277DAAB7-033A-429D-DC00-061EDFC728EE}"/>
              </a:ext>
            </a:extLst>
          </p:cNvPr>
          <p:cNvSpPr>
            <a:spLocks noGrp="1"/>
          </p:cNvSpPr>
          <p:nvPr>
            <p:ph type="dt" sz="half" idx="10"/>
          </p:nvPr>
        </p:nvSpPr>
        <p:spPr/>
        <p:txBody>
          <a:bodyPr/>
          <a:lstStyle/>
          <a:p>
            <a:fld id="{5E0D2D26-9E30-4CDA-8872-00B9C6D22E0D}" type="datetimeFigureOut">
              <a:rPr lang="en-US" smtClean="0"/>
              <a:t>2/11/2026</a:t>
            </a:fld>
            <a:endParaRPr lang="en-US"/>
          </a:p>
        </p:txBody>
      </p:sp>
      <p:sp>
        <p:nvSpPr>
          <p:cNvPr id="4" name="Espace réservé du pied de page 3">
            <a:extLst>
              <a:ext uri="{FF2B5EF4-FFF2-40B4-BE49-F238E27FC236}">
                <a16:creationId xmlns:a16="http://schemas.microsoft.com/office/drawing/2014/main" id="{8C007075-5713-002F-3E01-9BAC18B15A0E}"/>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9E31FF2C-8E01-979D-61E7-2DD8C6478400}"/>
              </a:ext>
            </a:extLst>
          </p:cNvPr>
          <p:cNvSpPr>
            <a:spLocks noGrp="1"/>
          </p:cNvSpPr>
          <p:nvPr>
            <p:ph type="sldNum" sz="quarter" idx="12"/>
          </p:nvPr>
        </p:nvSpPr>
        <p:spPr/>
        <p:txBody>
          <a:bodyPr/>
          <a:lstStyle/>
          <a:p>
            <a:fld id="{6709C650-B2CC-4A62-A26E-6381D0BE0A54}" type="slidenum">
              <a:rPr lang="en-US" smtClean="0"/>
              <a:t>‹#›</a:t>
            </a:fld>
            <a:endParaRPr lang="en-US"/>
          </a:p>
        </p:txBody>
      </p:sp>
    </p:spTree>
    <p:extLst>
      <p:ext uri="{BB962C8B-B14F-4D97-AF65-F5344CB8AC3E}">
        <p14:creationId xmlns:p14="http://schemas.microsoft.com/office/powerpoint/2010/main" val="3212116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AB63515-FF6F-8FB8-AB04-600853E614FB}"/>
              </a:ext>
            </a:extLst>
          </p:cNvPr>
          <p:cNvSpPr>
            <a:spLocks noGrp="1"/>
          </p:cNvSpPr>
          <p:nvPr>
            <p:ph type="dt" sz="half" idx="10"/>
          </p:nvPr>
        </p:nvSpPr>
        <p:spPr/>
        <p:txBody>
          <a:bodyPr/>
          <a:lstStyle/>
          <a:p>
            <a:fld id="{5E0D2D26-9E30-4CDA-8872-00B9C6D22E0D}" type="datetimeFigureOut">
              <a:rPr lang="en-US" smtClean="0"/>
              <a:t>2/11/2026</a:t>
            </a:fld>
            <a:endParaRPr lang="en-US"/>
          </a:p>
        </p:txBody>
      </p:sp>
      <p:sp>
        <p:nvSpPr>
          <p:cNvPr id="3" name="Espace réservé du pied de page 2">
            <a:extLst>
              <a:ext uri="{FF2B5EF4-FFF2-40B4-BE49-F238E27FC236}">
                <a16:creationId xmlns:a16="http://schemas.microsoft.com/office/drawing/2014/main" id="{DA98DF5F-7A1B-7F28-89DE-C835A3F90DA6}"/>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EBE25617-91CA-81E2-C371-EBAEE42C7DA9}"/>
              </a:ext>
            </a:extLst>
          </p:cNvPr>
          <p:cNvSpPr>
            <a:spLocks noGrp="1"/>
          </p:cNvSpPr>
          <p:nvPr>
            <p:ph type="sldNum" sz="quarter" idx="12"/>
          </p:nvPr>
        </p:nvSpPr>
        <p:spPr/>
        <p:txBody>
          <a:bodyPr/>
          <a:lstStyle/>
          <a:p>
            <a:fld id="{6709C650-B2CC-4A62-A26E-6381D0BE0A54}" type="slidenum">
              <a:rPr lang="en-US" smtClean="0"/>
              <a:t>‹#›</a:t>
            </a:fld>
            <a:endParaRPr lang="en-US"/>
          </a:p>
        </p:txBody>
      </p:sp>
    </p:spTree>
    <p:extLst>
      <p:ext uri="{BB962C8B-B14F-4D97-AF65-F5344CB8AC3E}">
        <p14:creationId xmlns:p14="http://schemas.microsoft.com/office/powerpoint/2010/main" val="1133725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9AD69A-B2B3-C576-DB06-952904682A4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68A0F44A-AC76-470D-1C7B-07D424B5F2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2DBFF2A4-70B3-2086-2BCE-6FF8A73086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6339904-55EF-51B7-4187-501C54EDAC36}"/>
              </a:ext>
            </a:extLst>
          </p:cNvPr>
          <p:cNvSpPr>
            <a:spLocks noGrp="1"/>
          </p:cNvSpPr>
          <p:nvPr>
            <p:ph type="dt" sz="half" idx="10"/>
          </p:nvPr>
        </p:nvSpPr>
        <p:spPr/>
        <p:txBody>
          <a:bodyPr/>
          <a:lstStyle/>
          <a:p>
            <a:fld id="{5E0D2D26-9E30-4CDA-8872-00B9C6D22E0D}" type="datetimeFigureOut">
              <a:rPr lang="en-US" smtClean="0"/>
              <a:t>2/11/2026</a:t>
            </a:fld>
            <a:endParaRPr lang="en-US"/>
          </a:p>
        </p:txBody>
      </p:sp>
      <p:sp>
        <p:nvSpPr>
          <p:cNvPr id="6" name="Espace réservé du pied de page 5">
            <a:extLst>
              <a:ext uri="{FF2B5EF4-FFF2-40B4-BE49-F238E27FC236}">
                <a16:creationId xmlns:a16="http://schemas.microsoft.com/office/drawing/2014/main" id="{F1C5EF01-C513-CD6B-3BD3-1249BCD89D70}"/>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F8D4F5B4-1186-65DC-1056-2F95918960F6}"/>
              </a:ext>
            </a:extLst>
          </p:cNvPr>
          <p:cNvSpPr>
            <a:spLocks noGrp="1"/>
          </p:cNvSpPr>
          <p:nvPr>
            <p:ph type="sldNum" sz="quarter" idx="12"/>
          </p:nvPr>
        </p:nvSpPr>
        <p:spPr/>
        <p:txBody>
          <a:bodyPr/>
          <a:lstStyle/>
          <a:p>
            <a:fld id="{6709C650-B2CC-4A62-A26E-6381D0BE0A54}" type="slidenum">
              <a:rPr lang="en-US" smtClean="0"/>
              <a:t>‹#›</a:t>
            </a:fld>
            <a:endParaRPr lang="en-US"/>
          </a:p>
        </p:txBody>
      </p:sp>
    </p:spTree>
    <p:extLst>
      <p:ext uri="{BB962C8B-B14F-4D97-AF65-F5344CB8AC3E}">
        <p14:creationId xmlns:p14="http://schemas.microsoft.com/office/powerpoint/2010/main" val="3440332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8337B2-8CFD-852C-7C49-DBA821690CE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81E36537-AF22-D06F-A5B3-75C6C90E55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3480DC1C-3CBC-DB9F-1C9C-D1E312E5F8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2723D2C-FF48-E164-C35C-1B486112ACD4}"/>
              </a:ext>
            </a:extLst>
          </p:cNvPr>
          <p:cNvSpPr>
            <a:spLocks noGrp="1"/>
          </p:cNvSpPr>
          <p:nvPr>
            <p:ph type="dt" sz="half" idx="10"/>
          </p:nvPr>
        </p:nvSpPr>
        <p:spPr/>
        <p:txBody>
          <a:bodyPr/>
          <a:lstStyle/>
          <a:p>
            <a:fld id="{5E0D2D26-9E30-4CDA-8872-00B9C6D22E0D}" type="datetimeFigureOut">
              <a:rPr lang="en-US" smtClean="0"/>
              <a:t>2/11/2026</a:t>
            </a:fld>
            <a:endParaRPr lang="en-US"/>
          </a:p>
        </p:txBody>
      </p:sp>
      <p:sp>
        <p:nvSpPr>
          <p:cNvPr id="6" name="Espace réservé du pied de page 5">
            <a:extLst>
              <a:ext uri="{FF2B5EF4-FFF2-40B4-BE49-F238E27FC236}">
                <a16:creationId xmlns:a16="http://schemas.microsoft.com/office/drawing/2014/main" id="{EBC75D3E-F8F9-5DDF-6438-3DFF6DC8E1BB}"/>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671A908D-EC26-E84A-C00F-8FC72EFD218E}"/>
              </a:ext>
            </a:extLst>
          </p:cNvPr>
          <p:cNvSpPr>
            <a:spLocks noGrp="1"/>
          </p:cNvSpPr>
          <p:nvPr>
            <p:ph type="sldNum" sz="quarter" idx="12"/>
          </p:nvPr>
        </p:nvSpPr>
        <p:spPr/>
        <p:txBody>
          <a:bodyPr/>
          <a:lstStyle/>
          <a:p>
            <a:fld id="{6709C650-B2CC-4A62-A26E-6381D0BE0A54}" type="slidenum">
              <a:rPr lang="en-US" smtClean="0"/>
              <a:t>‹#›</a:t>
            </a:fld>
            <a:endParaRPr lang="en-US"/>
          </a:p>
        </p:txBody>
      </p:sp>
    </p:spTree>
    <p:extLst>
      <p:ext uri="{BB962C8B-B14F-4D97-AF65-F5344CB8AC3E}">
        <p14:creationId xmlns:p14="http://schemas.microsoft.com/office/powerpoint/2010/main" val="2133573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EA9E05-711A-B35B-C99D-FE33B173824D}"/>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07148E12-5574-8A01-2D5D-8D0D03549F9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014E7B03-1844-02E1-877A-D62DF2D38041}"/>
              </a:ext>
            </a:extLst>
          </p:cNvPr>
          <p:cNvSpPr>
            <a:spLocks noGrp="1"/>
          </p:cNvSpPr>
          <p:nvPr>
            <p:ph type="dt" sz="half" idx="10"/>
          </p:nvPr>
        </p:nvSpPr>
        <p:spPr/>
        <p:txBody>
          <a:bodyPr/>
          <a:lstStyle/>
          <a:p>
            <a:fld id="{5E0D2D26-9E30-4CDA-8872-00B9C6D22E0D}" type="datetimeFigureOut">
              <a:rPr lang="en-US" smtClean="0"/>
              <a:t>2/11/2026</a:t>
            </a:fld>
            <a:endParaRPr lang="en-US"/>
          </a:p>
        </p:txBody>
      </p:sp>
      <p:sp>
        <p:nvSpPr>
          <p:cNvPr id="5" name="Espace réservé du pied de page 4">
            <a:extLst>
              <a:ext uri="{FF2B5EF4-FFF2-40B4-BE49-F238E27FC236}">
                <a16:creationId xmlns:a16="http://schemas.microsoft.com/office/drawing/2014/main" id="{473516C0-08AB-AFA6-7373-2D6423B0D7E7}"/>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F998DDC6-24AE-58AC-DA5E-8F503CC87749}"/>
              </a:ext>
            </a:extLst>
          </p:cNvPr>
          <p:cNvSpPr>
            <a:spLocks noGrp="1"/>
          </p:cNvSpPr>
          <p:nvPr>
            <p:ph type="sldNum" sz="quarter" idx="12"/>
          </p:nvPr>
        </p:nvSpPr>
        <p:spPr/>
        <p:txBody>
          <a:bodyPr/>
          <a:lstStyle/>
          <a:p>
            <a:fld id="{6709C650-B2CC-4A62-A26E-6381D0BE0A54}" type="slidenum">
              <a:rPr lang="en-US" smtClean="0"/>
              <a:t>‹#›</a:t>
            </a:fld>
            <a:endParaRPr lang="en-US"/>
          </a:p>
        </p:txBody>
      </p:sp>
    </p:spTree>
    <p:extLst>
      <p:ext uri="{BB962C8B-B14F-4D97-AF65-F5344CB8AC3E}">
        <p14:creationId xmlns:p14="http://schemas.microsoft.com/office/powerpoint/2010/main" val="956494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3F417A0-C199-DB0F-BFBA-B40FF7416189}"/>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0300C68A-1424-E881-547B-1C3A274B58B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A99BE0C7-4AF9-90BF-FD15-27BC9372E077}"/>
              </a:ext>
            </a:extLst>
          </p:cNvPr>
          <p:cNvSpPr>
            <a:spLocks noGrp="1"/>
          </p:cNvSpPr>
          <p:nvPr>
            <p:ph type="dt" sz="half" idx="10"/>
          </p:nvPr>
        </p:nvSpPr>
        <p:spPr/>
        <p:txBody>
          <a:bodyPr/>
          <a:lstStyle/>
          <a:p>
            <a:fld id="{5E0D2D26-9E30-4CDA-8872-00B9C6D22E0D}" type="datetimeFigureOut">
              <a:rPr lang="en-US" smtClean="0"/>
              <a:t>2/11/2026</a:t>
            </a:fld>
            <a:endParaRPr lang="en-US"/>
          </a:p>
        </p:txBody>
      </p:sp>
      <p:sp>
        <p:nvSpPr>
          <p:cNvPr id="5" name="Espace réservé du pied de page 4">
            <a:extLst>
              <a:ext uri="{FF2B5EF4-FFF2-40B4-BE49-F238E27FC236}">
                <a16:creationId xmlns:a16="http://schemas.microsoft.com/office/drawing/2014/main" id="{4A7C582A-F998-8E7F-6F30-00B7DE59D2E5}"/>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CADE86B0-39A0-9072-9093-A2DA8C09E35B}"/>
              </a:ext>
            </a:extLst>
          </p:cNvPr>
          <p:cNvSpPr>
            <a:spLocks noGrp="1"/>
          </p:cNvSpPr>
          <p:nvPr>
            <p:ph type="sldNum" sz="quarter" idx="12"/>
          </p:nvPr>
        </p:nvSpPr>
        <p:spPr/>
        <p:txBody>
          <a:bodyPr/>
          <a:lstStyle/>
          <a:p>
            <a:fld id="{6709C650-B2CC-4A62-A26E-6381D0BE0A54}" type="slidenum">
              <a:rPr lang="en-US" smtClean="0"/>
              <a:t>‹#›</a:t>
            </a:fld>
            <a:endParaRPr lang="en-US"/>
          </a:p>
        </p:txBody>
      </p:sp>
    </p:spTree>
    <p:extLst>
      <p:ext uri="{BB962C8B-B14F-4D97-AF65-F5344CB8AC3E}">
        <p14:creationId xmlns:p14="http://schemas.microsoft.com/office/powerpoint/2010/main" val="4119908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0E18EE2-B635-3ABE-542B-DB170B669D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FAD6A173-0C3C-78C8-7482-AA10E0F588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65D9F5F8-1D5D-F600-58C8-3A26508E7A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0D2D26-9E30-4CDA-8872-00B9C6D22E0D}" type="datetimeFigureOut">
              <a:rPr lang="en-US" smtClean="0"/>
              <a:t>2/11/2026</a:t>
            </a:fld>
            <a:endParaRPr lang="en-US"/>
          </a:p>
        </p:txBody>
      </p:sp>
      <p:sp>
        <p:nvSpPr>
          <p:cNvPr id="5" name="Espace réservé du pied de page 4">
            <a:extLst>
              <a:ext uri="{FF2B5EF4-FFF2-40B4-BE49-F238E27FC236}">
                <a16:creationId xmlns:a16="http://schemas.microsoft.com/office/drawing/2014/main" id="{82564983-EE27-75D1-DFA1-141E2CC219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27F7BA3A-567C-E13E-9163-3327334551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9C650-B2CC-4A62-A26E-6381D0BE0A54}" type="slidenum">
              <a:rPr lang="en-US" smtClean="0"/>
              <a:t>‹#›</a:t>
            </a:fld>
            <a:endParaRPr lang="en-US"/>
          </a:p>
        </p:txBody>
      </p:sp>
    </p:spTree>
    <p:extLst>
      <p:ext uri="{BB962C8B-B14F-4D97-AF65-F5344CB8AC3E}">
        <p14:creationId xmlns:p14="http://schemas.microsoft.com/office/powerpoint/2010/main" val="2649164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mongodb.com/docs/manual/reference/mql/expressions/" TargetMode="External"/><Relationship Id="rId2" Type="http://schemas.openxmlformats.org/officeDocument/2006/relationships/hyperlink" Target="https://www.mongodb.com/docs/manual/core/aggregation-pipeline/" TargetMode="External"/><Relationship Id="rId1" Type="http://schemas.openxmlformats.org/officeDocument/2006/relationships/slideLayout" Target="../slideLayouts/slideLayout2.xml"/><Relationship Id="rId4" Type="http://schemas.openxmlformats.org/officeDocument/2006/relationships/hyperlink" Target="https://mongoplayground.net/p/A9DjZ0o8kX5" TargetMode="External"/></Relationships>
</file>

<file path=ppt/slides/_rels/slide25.xml.rels><?xml version="1.0" encoding="UTF-8" standalone="yes"?>
<Relationships xmlns="http://schemas.openxmlformats.org/package/2006/relationships"><Relationship Id="rId2" Type="http://schemas.openxmlformats.org/officeDocument/2006/relationships/hyperlink" Target="https://mongoplayground.net/p/RbuFVlawV3b"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mongoplayground.net/p/8YC4Ll_m3W0"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6A31B3-E913-258A-D609-E00E1E995E67}"/>
              </a:ext>
            </a:extLst>
          </p:cNvPr>
          <p:cNvSpPr>
            <a:spLocks noGrp="1"/>
          </p:cNvSpPr>
          <p:nvPr>
            <p:ph type="ctrTitle"/>
          </p:nvPr>
        </p:nvSpPr>
        <p:spPr/>
        <p:txBody>
          <a:bodyPr/>
          <a:lstStyle/>
          <a:p>
            <a:r>
              <a:rPr lang="fr-CH" dirty="0"/>
              <a:t>M165 - NoSQL</a:t>
            </a:r>
            <a:endParaRPr lang="en-US" dirty="0"/>
          </a:p>
        </p:txBody>
      </p:sp>
      <p:sp>
        <p:nvSpPr>
          <p:cNvPr id="3" name="Sous-titre 2">
            <a:extLst>
              <a:ext uri="{FF2B5EF4-FFF2-40B4-BE49-F238E27FC236}">
                <a16:creationId xmlns:a16="http://schemas.microsoft.com/office/drawing/2014/main" id="{54B26E74-18DD-0D35-D958-11EAE730CEFB}"/>
              </a:ext>
            </a:extLst>
          </p:cNvPr>
          <p:cNvSpPr>
            <a:spLocks noGrp="1"/>
          </p:cNvSpPr>
          <p:nvPr>
            <p:ph type="subTitle" idx="1"/>
          </p:nvPr>
        </p:nvSpPr>
        <p:spPr/>
        <p:txBody>
          <a:bodyPr/>
          <a:lstStyle/>
          <a:p>
            <a:r>
              <a:rPr lang="fr-CH" dirty="0"/>
              <a:t>CFPT – Michaël </a:t>
            </a:r>
            <a:r>
              <a:rPr lang="fr-CH" cap="small" dirty="0"/>
              <a:t>Mathieu</a:t>
            </a:r>
            <a:endParaRPr lang="en-US" cap="small" dirty="0"/>
          </a:p>
        </p:txBody>
      </p:sp>
    </p:spTree>
    <p:extLst>
      <p:ext uri="{BB962C8B-B14F-4D97-AF65-F5344CB8AC3E}">
        <p14:creationId xmlns:p14="http://schemas.microsoft.com/office/powerpoint/2010/main" val="940933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780A0D-D984-8723-B3D5-21C7CD3C2AF7}"/>
              </a:ext>
            </a:extLst>
          </p:cNvPr>
          <p:cNvSpPr>
            <a:spLocks noGrp="1"/>
          </p:cNvSpPr>
          <p:nvPr>
            <p:ph type="title"/>
          </p:nvPr>
        </p:nvSpPr>
        <p:spPr/>
        <p:txBody>
          <a:bodyPr/>
          <a:lstStyle/>
          <a:p>
            <a:r>
              <a:rPr lang="fr-CH" dirty="0"/>
              <a:t>Organisation du module</a:t>
            </a:r>
            <a:endParaRPr lang="en-US" dirty="0"/>
          </a:p>
        </p:txBody>
      </p:sp>
      <p:sp>
        <p:nvSpPr>
          <p:cNvPr id="3" name="Espace réservé du contenu 2">
            <a:extLst>
              <a:ext uri="{FF2B5EF4-FFF2-40B4-BE49-F238E27FC236}">
                <a16:creationId xmlns:a16="http://schemas.microsoft.com/office/drawing/2014/main" id="{3E6577BE-6955-DF1B-633A-C146215F314F}"/>
              </a:ext>
            </a:extLst>
          </p:cNvPr>
          <p:cNvSpPr>
            <a:spLocks noGrp="1"/>
          </p:cNvSpPr>
          <p:nvPr>
            <p:ph idx="1"/>
          </p:nvPr>
        </p:nvSpPr>
        <p:spPr/>
        <p:txBody>
          <a:bodyPr/>
          <a:lstStyle/>
          <a:p>
            <a:r>
              <a:rPr lang="fr-CH" dirty="0"/>
              <a:t>Théorie des différents mécanismes sous-jacents</a:t>
            </a:r>
          </a:p>
          <a:p>
            <a:r>
              <a:rPr lang="fr-CH" dirty="0"/>
              <a:t>Pratique avec MongoDB (sous Windows) et C#</a:t>
            </a:r>
          </a:p>
          <a:p>
            <a:r>
              <a:rPr lang="fr-CH" dirty="0"/>
              <a:t>Pratique avec </a:t>
            </a:r>
            <a:r>
              <a:rPr lang="fr-CH" dirty="0" err="1"/>
              <a:t>ArangoDB</a:t>
            </a:r>
            <a:r>
              <a:rPr lang="fr-CH" dirty="0"/>
              <a:t> (dans Docker) et JavaScript</a:t>
            </a:r>
          </a:p>
          <a:p>
            <a:r>
              <a:rPr lang="fr-CH" dirty="0"/>
              <a:t>Evaluation intermédiaire (date sur </a:t>
            </a:r>
            <a:r>
              <a:rPr lang="fr-CH" dirty="0" err="1"/>
              <a:t>classroom</a:t>
            </a:r>
            <a:r>
              <a:rPr lang="fr-CH" dirty="0"/>
              <a:t>) (test sur papier de 45’), compte pour 1/3</a:t>
            </a:r>
          </a:p>
          <a:p>
            <a:r>
              <a:rPr lang="fr-CH" dirty="0"/>
              <a:t>Evaluation finale (date sur </a:t>
            </a:r>
            <a:r>
              <a:rPr lang="fr-CH" dirty="0" err="1"/>
              <a:t>classroom</a:t>
            </a:r>
            <a:r>
              <a:rPr lang="fr-CH" dirty="0"/>
              <a:t>)</a:t>
            </a:r>
            <a:br>
              <a:rPr lang="fr-CH" dirty="0"/>
            </a:br>
            <a:r>
              <a:rPr lang="fr-CH" dirty="0"/>
              <a:t>(test sur ordinateur sans réseau), compte pour 2/3</a:t>
            </a:r>
            <a:endParaRPr lang="en-US" b="1" dirty="0"/>
          </a:p>
        </p:txBody>
      </p:sp>
    </p:spTree>
    <p:extLst>
      <p:ext uri="{BB962C8B-B14F-4D97-AF65-F5344CB8AC3E}">
        <p14:creationId xmlns:p14="http://schemas.microsoft.com/office/powerpoint/2010/main" val="2897154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780A0D-D984-8723-B3D5-21C7CD3C2AF7}"/>
              </a:ext>
            </a:extLst>
          </p:cNvPr>
          <p:cNvSpPr>
            <a:spLocks noGrp="1"/>
          </p:cNvSpPr>
          <p:nvPr>
            <p:ph type="title"/>
          </p:nvPr>
        </p:nvSpPr>
        <p:spPr/>
        <p:txBody>
          <a:bodyPr/>
          <a:lstStyle/>
          <a:p>
            <a:r>
              <a:rPr lang="fr-CH" dirty="0"/>
              <a:t>Prérequis</a:t>
            </a:r>
            <a:endParaRPr lang="en-US" dirty="0"/>
          </a:p>
        </p:txBody>
      </p:sp>
      <p:sp>
        <p:nvSpPr>
          <p:cNvPr id="3" name="Espace réservé du contenu 2">
            <a:extLst>
              <a:ext uri="{FF2B5EF4-FFF2-40B4-BE49-F238E27FC236}">
                <a16:creationId xmlns:a16="http://schemas.microsoft.com/office/drawing/2014/main" id="{3E6577BE-6955-DF1B-633A-C146215F314F}"/>
              </a:ext>
            </a:extLst>
          </p:cNvPr>
          <p:cNvSpPr>
            <a:spLocks noGrp="1"/>
          </p:cNvSpPr>
          <p:nvPr>
            <p:ph idx="1"/>
          </p:nvPr>
        </p:nvSpPr>
        <p:spPr/>
        <p:txBody>
          <a:bodyPr/>
          <a:lstStyle/>
          <a:p>
            <a:r>
              <a:rPr lang="fr-CH" dirty="0"/>
              <a:t>Programmation avec C#</a:t>
            </a:r>
          </a:p>
          <a:p>
            <a:r>
              <a:rPr lang="fr-CH" dirty="0"/>
              <a:t>Interagir avec une base de données </a:t>
            </a:r>
            <a:r>
              <a:rPr lang="fr-CH" dirty="0" err="1"/>
              <a:t>MariaDB</a:t>
            </a:r>
            <a:r>
              <a:rPr lang="fr-CH" dirty="0"/>
              <a:t> depuis C# (SELECT, INSERT, UPDATE, DELETE)</a:t>
            </a:r>
          </a:p>
          <a:p>
            <a:r>
              <a:rPr lang="fr-CH" dirty="0"/>
              <a:t>Comprendre la structure d’un fichier au format JSON</a:t>
            </a:r>
          </a:p>
        </p:txBody>
      </p:sp>
    </p:spTree>
    <p:extLst>
      <p:ext uri="{BB962C8B-B14F-4D97-AF65-F5344CB8AC3E}">
        <p14:creationId xmlns:p14="http://schemas.microsoft.com/office/powerpoint/2010/main" val="1200043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en-US" dirty="0"/>
              <a:t>Structures </a:t>
            </a:r>
            <a:r>
              <a:rPr lang="en-US" dirty="0" err="1"/>
              <a:t>d’indexation</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a:bodyPr>
          <a:lstStyle/>
          <a:p>
            <a:pPr lvl="1"/>
            <a:endParaRPr lang="fr-CH" dirty="0"/>
          </a:p>
        </p:txBody>
      </p:sp>
      <p:pic>
        <p:nvPicPr>
          <p:cNvPr id="6" name="Picture 5">
            <a:extLst>
              <a:ext uri="{FF2B5EF4-FFF2-40B4-BE49-F238E27FC236}">
                <a16:creationId xmlns:a16="http://schemas.microsoft.com/office/drawing/2014/main" id="{4AF804BB-2921-0720-32E6-96A9FB9B1714}"/>
              </a:ext>
            </a:extLst>
          </p:cNvPr>
          <p:cNvPicPr>
            <a:picLocks noChangeAspect="1"/>
          </p:cNvPicPr>
          <p:nvPr/>
        </p:nvPicPr>
        <p:blipFill>
          <a:blip r:embed="rId2"/>
          <a:stretch>
            <a:fillRect/>
          </a:stretch>
        </p:blipFill>
        <p:spPr>
          <a:xfrm>
            <a:off x="487507" y="1570470"/>
            <a:ext cx="5734050" cy="5010150"/>
          </a:xfrm>
          <a:prstGeom prst="rect">
            <a:avLst/>
          </a:prstGeom>
        </p:spPr>
      </p:pic>
      <p:pic>
        <p:nvPicPr>
          <p:cNvPr id="8" name="Picture 7">
            <a:extLst>
              <a:ext uri="{FF2B5EF4-FFF2-40B4-BE49-F238E27FC236}">
                <a16:creationId xmlns:a16="http://schemas.microsoft.com/office/drawing/2014/main" id="{605E4C68-280C-0FA1-8648-088DC20BE82B}"/>
              </a:ext>
            </a:extLst>
          </p:cNvPr>
          <p:cNvPicPr>
            <a:picLocks noChangeAspect="1"/>
          </p:cNvPicPr>
          <p:nvPr/>
        </p:nvPicPr>
        <p:blipFill>
          <a:blip r:embed="rId3"/>
          <a:stretch>
            <a:fillRect/>
          </a:stretch>
        </p:blipFill>
        <p:spPr>
          <a:xfrm>
            <a:off x="6221557" y="2896033"/>
            <a:ext cx="5734050" cy="1990725"/>
          </a:xfrm>
          <a:prstGeom prst="rect">
            <a:avLst/>
          </a:prstGeom>
        </p:spPr>
      </p:pic>
    </p:spTree>
    <p:extLst>
      <p:ext uri="{BB962C8B-B14F-4D97-AF65-F5344CB8AC3E}">
        <p14:creationId xmlns:p14="http://schemas.microsoft.com/office/powerpoint/2010/main" val="2752372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CAP – </a:t>
            </a:r>
            <a:r>
              <a:rPr lang="fr-CH" dirty="0" err="1"/>
              <a:t>Consistency</a:t>
            </a:r>
            <a:r>
              <a:rPr lang="fr-CH" dirty="0"/>
              <a:t> </a:t>
            </a:r>
            <a:r>
              <a:rPr lang="fr-CH" dirty="0" err="1"/>
              <a:t>Availability</a:t>
            </a:r>
            <a:r>
              <a:rPr lang="fr-CH" dirty="0"/>
              <a:t> </a:t>
            </a:r>
            <a:r>
              <a:rPr lang="fr-CH" dirty="0" err="1"/>
              <a:t>Partitioning</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lstStyle/>
          <a:p>
            <a:r>
              <a:rPr lang="fr-FR" b="1" dirty="0" err="1"/>
              <a:t>Consistency</a:t>
            </a:r>
            <a:r>
              <a:rPr lang="fr-FR" dirty="0"/>
              <a:t> (cohérence)</a:t>
            </a:r>
            <a:br>
              <a:rPr lang="fr-FR" dirty="0"/>
            </a:br>
            <a:r>
              <a:rPr lang="fr-FR" dirty="0"/>
              <a:t>tous les clients voient les mêmes données au même moment</a:t>
            </a:r>
          </a:p>
          <a:p>
            <a:r>
              <a:rPr lang="fr-FR" b="1" dirty="0" err="1"/>
              <a:t>Availability</a:t>
            </a:r>
            <a:r>
              <a:rPr lang="fr-FR" dirty="0"/>
              <a:t> (disponibilité)</a:t>
            </a:r>
            <a:br>
              <a:rPr lang="fr-FR" dirty="0"/>
            </a:br>
            <a:r>
              <a:rPr lang="fr-FR" dirty="0"/>
              <a:t>l’ensemble des clients peuvent procéder à tout moment à des accès en lecture et en écriture puisque le système est en mesure d’y répondre en permanence</a:t>
            </a:r>
          </a:p>
          <a:p>
            <a:r>
              <a:rPr lang="fr-FR" b="1" dirty="0"/>
              <a:t>Partition </a:t>
            </a:r>
            <a:r>
              <a:rPr lang="fr-FR" b="1" dirty="0" err="1"/>
              <a:t>tolerance</a:t>
            </a:r>
            <a:r>
              <a:rPr lang="fr-FR" b="1" dirty="0"/>
              <a:t> </a:t>
            </a:r>
            <a:r>
              <a:rPr lang="fr-FR" dirty="0"/>
              <a:t>(tolérance au partitionnement)</a:t>
            </a:r>
            <a:br>
              <a:rPr lang="fr-FR" dirty="0"/>
            </a:br>
            <a:r>
              <a:rPr lang="fr-FR" dirty="0"/>
              <a:t>en cas de panne d’un nœud individuel ou lorsque des nœuds individuels ne sont plus en mesure de communiquer ensemble, le système peut continuer à fonctionner comme un tout.</a:t>
            </a:r>
          </a:p>
          <a:p>
            <a:endParaRPr lang="en-US" dirty="0"/>
          </a:p>
        </p:txBody>
      </p:sp>
    </p:spTree>
    <p:extLst>
      <p:ext uri="{BB962C8B-B14F-4D97-AF65-F5344CB8AC3E}">
        <p14:creationId xmlns:p14="http://schemas.microsoft.com/office/powerpoint/2010/main" val="1276340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CAP – </a:t>
            </a:r>
            <a:r>
              <a:rPr lang="fr-CH" dirty="0" err="1"/>
              <a:t>Consistency</a:t>
            </a:r>
            <a:r>
              <a:rPr lang="fr-CH" dirty="0"/>
              <a:t> </a:t>
            </a:r>
            <a:r>
              <a:rPr lang="fr-CH" dirty="0" err="1"/>
              <a:t>Availability</a:t>
            </a:r>
            <a:r>
              <a:rPr lang="fr-CH" dirty="0"/>
              <a:t> </a:t>
            </a:r>
            <a:r>
              <a:rPr lang="fr-CH" dirty="0" err="1"/>
              <a:t>Partitioning</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a:bodyPr>
          <a:lstStyle/>
          <a:p>
            <a:r>
              <a:rPr lang="fr-FR" sz="2400" dirty="0"/>
              <a:t>système CP (cohérence et tolérance au partitionnement)</a:t>
            </a:r>
          </a:p>
          <a:p>
            <a:r>
              <a:rPr lang="fr-FR" sz="2400" dirty="0"/>
              <a:t>système CA (cohérence et disponibilité)</a:t>
            </a:r>
          </a:p>
          <a:p>
            <a:r>
              <a:rPr lang="fr-FR" sz="2400" dirty="0"/>
              <a:t>système AP (disponibilité et tolérance au partitionnement)</a:t>
            </a:r>
          </a:p>
        </p:txBody>
      </p:sp>
      <p:pic>
        <p:nvPicPr>
          <p:cNvPr id="5" name="image7.png">
            <a:extLst>
              <a:ext uri="{FF2B5EF4-FFF2-40B4-BE49-F238E27FC236}">
                <a16:creationId xmlns:a16="http://schemas.microsoft.com/office/drawing/2014/main" id="{F2958693-0179-D830-C466-E044D58757E5}"/>
              </a:ext>
            </a:extLst>
          </p:cNvPr>
          <p:cNvPicPr/>
          <p:nvPr/>
        </p:nvPicPr>
        <p:blipFill>
          <a:blip r:embed="rId2"/>
          <a:srcRect/>
          <a:stretch>
            <a:fillRect/>
          </a:stretch>
        </p:blipFill>
        <p:spPr>
          <a:xfrm>
            <a:off x="3968223" y="3161943"/>
            <a:ext cx="4255554" cy="3601341"/>
          </a:xfrm>
          <a:prstGeom prst="rect">
            <a:avLst/>
          </a:prstGeom>
          <a:ln/>
        </p:spPr>
      </p:pic>
    </p:spTree>
    <p:extLst>
      <p:ext uri="{BB962C8B-B14F-4D97-AF65-F5344CB8AC3E}">
        <p14:creationId xmlns:p14="http://schemas.microsoft.com/office/powerpoint/2010/main" val="1507661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CAP – exemple système CP</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a:bodyPr>
          <a:lstStyle/>
          <a:p>
            <a:r>
              <a:rPr lang="fr-CH" dirty="0"/>
              <a:t>Applications bancaires et financières</a:t>
            </a:r>
          </a:p>
          <a:p>
            <a:r>
              <a:rPr lang="fr-FR" dirty="0"/>
              <a:t>Pour la plupart des systèmes distribués, une importance particulière est accordée à une disponibilité élevée ce qui explique pourquoi on voit assez peu de systèmes CP dans la pratique.</a:t>
            </a:r>
          </a:p>
          <a:p>
            <a:r>
              <a:rPr lang="fr-FR" dirty="0"/>
              <a:t>Ces systèmes montrent particulièrement leurs atouts dans le domaine de la finance : afin d’exclure toute erreur comptable, même en cas de perturbation, les applications bancaires devant réaliser des transferts d’argent.</a:t>
            </a:r>
          </a:p>
        </p:txBody>
      </p:sp>
    </p:spTree>
    <p:extLst>
      <p:ext uri="{BB962C8B-B14F-4D97-AF65-F5344CB8AC3E}">
        <p14:creationId xmlns:p14="http://schemas.microsoft.com/office/powerpoint/2010/main" val="2882736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CAP – exemple système CA</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a:bodyPr>
          <a:lstStyle/>
          <a:p>
            <a:r>
              <a:rPr lang="fr-FR" dirty="0"/>
              <a:t>Systèmes de gestion de base de données relationnels (SGBDR)</a:t>
            </a:r>
          </a:p>
          <a:p>
            <a:r>
              <a:rPr lang="fr-FR" dirty="0"/>
              <a:t>Ces systèmes de base de données se démarquent principalement par leur forte cohérence et recherchent une disponibilité aussi élevée que possible. En cas de doute, la disponibilité peut toutefois être réduite au profit de la cohérence. La tolérance au partitionnement joue ici un rôle mineur.</a:t>
            </a:r>
          </a:p>
        </p:txBody>
      </p:sp>
    </p:spTree>
    <p:extLst>
      <p:ext uri="{BB962C8B-B14F-4D97-AF65-F5344CB8AC3E}">
        <p14:creationId xmlns:p14="http://schemas.microsoft.com/office/powerpoint/2010/main" val="3636307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CAP – exemple système AP</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fontScale="92500" lnSpcReduction="10000"/>
          </a:bodyPr>
          <a:lstStyle/>
          <a:p>
            <a:r>
              <a:rPr lang="fr-FR" dirty="0"/>
              <a:t>DNS - Domain Name System</a:t>
            </a:r>
          </a:p>
          <a:p>
            <a:r>
              <a:rPr lang="fr-FR" dirty="0"/>
              <a:t>Ce système est responsable de la résolution des noms de domaine pour les adresses IP et priorise la disponibilité et la tolérance au partitionnement =&gt; pas catastrophique si les données ne sont pas identiques au même moment sur tous les serveurs DNS de la planète.</a:t>
            </a:r>
          </a:p>
          <a:p>
            <a:r>
              <a:rPr lang="fr-FR" dirty="0"/>
              <a:t>Grâce au nombre important de serveurs, ce système est pratiquement disponible sans exception. Si un serveur DNS tombe en panne, le suivant prend le relais.</a:t>
            </a:r>
          </a:p>
          <a:p>
            <a:r>
              <a:rPr lang="fr-FR" dirty="0"/>
              <a:t>Si une entrée du DNS est modifiée, cela peut prendre plusieurs heures avant que cette modification ne soit transmise à toute la hiérarchie du système et ne puisse être vue par tous les clients.</a:t>
            </a:r>
          </a:p>
        </p:txBody>
      </p:sp>
    </p:spTree>
    <p:extLst>
      <p:ext uri="{BB962C8B-B14F-4D97-AF65-F5344CB8AC3E}">
        <p14:creationId xmlns:p14="http://schemas.microsoft.com/office/powerpoint/2010/main" val="1923031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XA – </a:t>
            </a:r>
            <a:r>
              <a:rPr lang="fr-CH" dirty="0" err="1"/>
              <a:t>eXtended</a:t>
            </a:r>
            <a:r>
              <a:rPr lang="fr-CH" dirty="0"/>
              <a:t> Architecture</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a:bodyPr>
          <a:lstStyle/>
          <a:p>
            <a:r>
              <a:rPr lang="fr-FR" dirty="0"/>
              <a:t>utilisé pour la </a:t>
            </a:r>
            <a:r>
              <a:rPr lang="fr-FR" i="1" dirty="0"/>
              <a:t>cohérence</a:t>
            </a:r>
            <a:r>
              <a:rPr lang="fr-FR" dirty="0"/>
              <a:t> </a:t>
            </a:r>
            <a:r>
              <a:rPr lang="fr-FR" i="1" dirty="0"/>
              <a:t>(</a:t>
            </a:r>
            <a:r>
              <a:rPr lang="fr-FR" i="1" dirty="0" err="1"/>
              <a:t>consistency</a:t>
            </a:r>
            <a:r>
              <a:rPr lang="fr-FR" i="1" dirty="0"/>
              <a:t>)</a:t>
            </a:r>
          </a:p>
          <a:p>
            <a:r>
              <a:rPr lang="fr-FR" dirty="0"/>
              <a:t>pour garantir l’atomicité des transactions à travers des composants hétérogènes. XA utilise un mécanisme de 2 phase commit (2PC) pour s’assurer que toutes les transactions soient validées (commit) ou annulées (rollback).</a:t>
            </a:r>
          </a:p>
          <a:p>
            <a:r>
              <a:rPr lang="fr-FR" dirty="0"/>
              <a:t>Principal désavantage: protocole bloquant: les autres serveurs doivent attendre que la transaction soit terminée pour finaliser la transaction.</a:t>
            </a:r>
          </a:p>
        </p:txBody>
      </p:sp>
    </p:spTree>
    <p:extLst>
      <p:ext uri="{BB962C8B-B14F-4D97-AF65-F5344CB8AC3E}">
        <p14:creationId xmlns:p14="http://schemas.microsoft.com/office/powerpoint/2010/main" val="4074728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ACID –</a:t>
            </a:r>
            <a:br>
              <a:rPr lang="fr-CH" dirty="0"/>
            </a:br>
            <a:r>
              <a:rPr lang="fr-CH" dirty="0" err="1"/>
              <a:t>Atomicity</a:t>
            </a:r>
            <a:r>
              <a:rPr lang="fr-CH" dirty="0"/>
              <a:t> </a:t>
            </a:r>
            <a:r>
              <a:rPr lang="fr-CH" dirty="0" err="1"/>
              <a:t>Consistency</a:t>
            </a:r>
            <a:r>
              <a:rPr lang="fr-CH" dirty="0"/>
              <a:t> Isolation </a:t>
            </a:r>
            <a:r>
              <a:rPr lang="fr-CH" dirty="0" err="1"/>
              <a:t>Durability</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a:xfrm>
            <a:off x="838199" y="1825625"/>
            <a:ext cx="6357359" cy="4667250"/>
          </a:xfrm>
        </p:spPr>
        <p:txBody>
          <a:bodyPr>
            <a:normAutofit fontScale="70000" lnSpcReduction="20000"/>
          </a:bodyPr>
          <a:lstStyle/>
          <a:p>
            <a:r>
              <a:rPr lang="en-US" b="1" dirty="0"/>
              <a:t>Atomicity</a:t>
            </a:r>
            <a:r>
              <a:rPr lang="en-US" dirty="0"/>
              <a:t> (</a:t>
            </a:r>
            <a:r>
              <a:rPr lang="en-US" dirty="0" err="1"/>
              <a:t>atomicité</a:t>
            </a:r>
            <a:r>
              <a:rPr lang="en-US" dirty="0"/>
              <a:t>): les </a:t>
            </a:r>
            <a:r>
              <a:rPr lang="en-US" dirty="0" err="1"/>
              <a:t>tâches</a:t>
            </a:r>
            <a:r>
              <a:rPr lang="en-US" dirty="0"/>
              <a:t> au sein </a:t>
            </a:r>
            <a:r>
              <a:rPr lang="en-US" dirty="0" err="1"/>
              <a:t>d’une</a:t>
            </a:r>
            <a:r>
              <a:rPr lang="en-US" dirty="0"/>
              <a:t> transaction </a:t>
            </a:r>
            <a:r>
              <a:rPr lang="en-US" dirty="0" err="1"/>
              <a:t>sont</a:t>
            </a:r>
            <a:r>
              <a:rPr lang="en-US" dirty="0"/>
              <a:t> </a:t>
            </a:r>
            <a:r>
              <a:rPr lang="en-US" dirty="0" err="1"/>
              <a:t>toutes</a:t>
            </a:r>
            <a:r>
              <a:rPr lang="en-US" dirty="0"/>
              <a:t> </a:t>
            </a:r>
            <a:r>
              <a:rPr lang="en-US" dirty="0" err="1"/>
              <a:t>validées</a:t>
            </a:r>
            <a:r>
              <a:rPr lang="en-US" dirty="0"/>
              <a:t>, </a:t>
            </a:r>
            <a:r>
              <a:rPr lang="en-US" dirty="0" err="1"/>
              <a:t>soit</a:t>
            </a:r>
            <a:r>
              <a:rPr lang="en-US" dirty="0"/>
              <a:t> </a:t>
            </a:r>
            <a:r>
              <a:rPr lang="en-US" dirty="0" err="1"/>
              <a:t>aucune</a:t>
            </a:r>
            <a:r>
              <a:rPr lang="en-US" dirty="0"/>
              <a:t>.</a:t>
            </a:r>
            <a:br>
              <a:rPr lang="en-US" dirty="0"/>
            </a:br>
            <a:r>
              <a:rPr lang="en-US" u="sng" dirty="0" err="1"/>
              <a:t>Exemple</a:t>
            </a:r>
            <a:r>
              <a:rPr lang="en-US" dirty="0"/>
              <a:t>: </a:t>
            </a:r>
            <a:r>
              <a:rPr lang="en-US" dirty="0" err="1"/>
              <a:t>transfert</a:t>
            </a:r>
            <a:r>
              <a:rPr lang="en-US" dirty="0"/>
              <a:t> </a:t>
            </a:r>
            <a:r>
              <a:rPr lang="en-US" dirty="0" err="1"/>
              <a:t>bancaire</a:t>
            </a:r>
            <a:endParaRPr lang="en-US" dirty="0"/>
          </a:p>
          <a:p>
            <a:r>
              <a:rPr lang="en-US" b="1" dirty="0"/>
              <a:t>Consistency</a:t>
            </a:r>
            <a:r>
              <a:rPr lang="en-US" dirty="0"/>
              <a:t> (</a:t>
            </a:r>
            <a:r>
              <a:rPr lang="en-US" dirty="0" err="1"/>
              <a:t>cohérence</a:t>
            </a:r>
            <a:r>
              <a:rPr lang="en-US" dirty="0"/>
              <a:t>): la base de données doit </a:t>
            </a:r>
            <a:r>
              <a:rPr lang="en-US" dirty="0" err="1"/>
              <a:t>rester</a:t>
            </a:r>
            <a:r>
              <a:rPr lang="en-US" dirty="0"/>
              <a:t> </a:t>
            </a:r>
            <a:r>
              <a:rPr lang="en-US" dirty="0" err="1"/>
              <a:t>cohérente</a:t>
            </a:r>
            <a:r>
              <a:rPr lang="en-US" dirty="0"/>
              <a:t> du début à la fin de la transaction et ne pas accepter d’être à un moment dans un état </a:t>
            </a:r>
            <a:r>
              <a:rPr lang="en-US" dirty="0" err="1"/>
              <a:t>incohérent</a:t>
            </a:r>
            <a:r>
              <a:rPr lang="en-US" dirty="0"/>
              <a:t>.</a:t>
            </a:r>
            <a:br>
              <a:rPr lang="en-US" dirty="0"/>
            </a:br>
            <a:r>
              <a:rPr lang="en-US" u="sng" dirty="0" err="1"/>
              <a:t>Exemple</a:t>
            </a:r>
            <a:r>
              <a:rPr lang="en-US" dirty="0"/>
              <a:t>: </a:t>
            </a:r>
            <a:r>
              <a:rPr lang="en-US" dirty="0" err="1"/>
              <a:t>lors</a:t>
            </a:r>
            <a:r>
              <a:rPr lang="en-US" dirty="0"/>
              <a:t> d’un INSERT les champs NOT NULL </a:t>
            </a:r>
            <a:r>
              <a:rPr lang="en-US" dirty="0" err="1"/>
              <a:t>doivent</a:t>
            </a:r>
            <a:r>
              <a:rPr lang="en-US" dirty="0"/>
              <a:t> </a:t>
            </a:r>
            <a:r>
              <a:rPr lang="en-US" dirty="0" err="1"/>
              <a:t>être</a:t>
            </a:r>
            <a:r>
              <a:rPr lang="en-US" dirty="0"/>
              <a:t> </a:t>
            </a:r>
            <a:r>
              <a:rPr lang="en-US" dirty="0" err="1"/>
              <a:t>remplis</a:t>
            </a:r>
            <a:r>
              <a:rPr lang="en-US" dirty="0"/>
              <a:t>, </a:t>
            </a:r>
            <a:r>
              <a:rPr lang="en-US" dirty="0" err="1"/>
              <a:t>même</a:t>
            </a:r>
            <a:r>
              <a:rPr lang="en-US" dirty="0"/>
              <a:t> </a:t>
            </a:r>
            <a:r>
              <a:rPr lang="en-US" dirty="0" err="1"/>
              <a:t>si</a:t>
            </a:r>
            <a:r>
              <a:rPr lang="en-US" dirty="0"/>
              <a:t> un UPDATE, dans la </a:t>
            </a:r>
            <a:r>
              <a:rPr lang="en-US" dirty="0" err="1"/>
              <a:t>même</a:t>
            </a:r>
            <a:r>
              <a:rPr lang="en-US" dirty="0"/>
              <a:t> transaction, </a:t>
            </a:r>
            <a:r>
              <a:rPr lang="en-US" dirty="0" err="1"/>
              <a:t>devait</a:t>
            </a:r>
            <a:r>
              <a:rPr lang="en-US"/>
              <a:t> ensuite </a:t>
            </a:r>
            <a:r>
              <a:rPr lang="en-US" dirty="0"/>
              <a:t>modifier </a:t>
            </a:r>
            <a:r>
              <a:rPr lang="en-US" dirty="0" err="1"/>
              <a:t>ces</a:t>
            </a:r>
            <a:r>
              <a:rPr lang="en-US" dirty="0"/>
              <a:t> champs avec des </a:t>
            </a:r>
            <a:r>
              <a:rPr lang="en-US" dirty="0" err="1"/>
              <a:t>valeurs</a:t>
            </a:r>
            <a:r>
              <a:rPr lang="en-US" dirty="0"/>
              <a:t> non-</a:t>
            </a:r>
            <a:r>
              <a:rPr lang="en-US" dirty="0" err="1"/>
              <a:t>nulles</a:t>
            </a:r>
            <a:endParaRPr lang="en-US" dirty="0"/>
          </a:p>
          <a:p>
            <a:r>
              <a:rPr lang="en-US" b="1" dirty="0"/>
              <a:t>Isolation</a:t>
            </a:r>
            <a:r>
              <a:rPr lang="en-US" dirty="0"/>
              <a:t>: </a:t>
            </a:r>
            <a:r>
              <a:rPr lang="en-US" dirty="0" err="1"/>
              <a:t>aucune</a:t>
            </a:r>
            <a:r>
              <a:rPr lang="en-US" dirty="0"/>
              <a:t> </a:t>
            </a:r>
            <a:r>
              <a:rPr lang="en-US" dirty="0" err="1"/>
              <a:t>autre</a:t>
            </a:r>
            <a:r>
              <a:rPr lang="en-US" dirty="0"/>
              <a:t> transaction </a:t>
            </a:r>
            <a:r>
              <a:rPr lang="en-US" dirty="0" err="1"/>
              <a:t>n’a</a:t>
            </a:r>
            <a:r>
              <a:rPr lang="en-US" dirty="0"/>
              <a:t> </a:t>
            </a:r>
            <a:r>
              <a:rPr lang="en-US" dirty="0" err="1"/>
              <a:t>accès</a:t>
            </a:r>
            <a:r>
              <a:rPr lang="en-US" dirty="0"/>
              <a:t> aux modifications </a:t>
            </a:r>
            <a:r>
              <a:rPr lang="en-US" dirty="0" err="1"/>
              <a:t>engendrées</a:t>
            </a:r>
            <a:r>
              <a:rPr lang="en-US" dirty="0"/>
              <a:t> par </a:t>
            </a:r>
            <a:r>
              <a:rPr lang="en-US" dirty="0" err="1"/>
              <a:t>une</a:t>
            </a:r>
            <a:r>
              <a:rPr lang="en-US" dirty="0"/>
              <a:t> </a:t>
            </a:r>
            <a:r>
              <a:rPr lang="en-US" dirty="0" err="1"/>
              <a:t>autre</a:t>
            </a:r>
            <a:r>
              <a:rPr lang="en-US" dirty="0"/>
              <a:t> transaction tant que </a:t>
            </a:r>
            <a:r>
              <a:rPr lang="en-US" dirty="0" err="1"/>
              <a:t>cette</a:t>
            </a:r>
            <a:r>
              <a:rPr lang="en-US" dirty="0"/>
              <a:t> </a:t>
            </a:r>
            <a:r>
              <a:rPr lang="en-US" dirty="0" err="1"/>
              <a:t>dernière</a:t>
            </a:r>
            <a:r>
              <a:rPr lang="en-US" dirty="0"/>
              <a:t> </a:t>
            </a:r>
            <a:r>
              <a:rPr lang="en-US" dirty="0" err="1"/>
              <a:t>n’est</a:t>
            </a:r>
            <a:r>
              <a:rPr lang="en-US" dirty="0"/>
              <a:t> pas </a:t>
            </a:r>
            <a:r>
              <a:rPr lang="en-US" dirty="0" err="1"/>
              <a:t>validée</a:t>
            </a:r>
            <a:r>
              <a:rPr lang="en-US" dirty="0"/>
              <a:t>.</a:t>
            </a:r>
          </a:p>
          <a:p>
            <a:r>
              <a:rPr lang="en-US" b="1" dirty="0"/>
              <a:t>Durability</a:t>
            </a:r>
            <a:r>
              <a:rPr lang="en-US" dirty="0"/>
              <a:t> (</a:t>
            </a:r>
            <a:r>
              <a:rPr lang="en-US" dirty="0" err="1"/>
              <a:t>pérenne</a:t>
            </a:r>
            <a:r>
              <a:rPr lang="en-US" dirty="0"/>
              <a:t>): </a:t>
            </a:r>
            <a:r>
              <a:rPr lang="en-US" dirty="0" err="1"/>
              <a:t>une</a:t>
            </a:r>
            <a:r>
              <a:rPr lang="en-US" dirty="0"/>
              <a:t> </a:t>
            </a:r>
            <a:r>
              <a:rPr lang="en-US" dirty="0" err="1"/>
              <a:t>fois</a:t>
            </a:r>
            <a:r>
              <a:rPr lang="en-US" dirty="0"/>
              <a:t> que la transaction </a:t>
            </a:r>
            <a:r>
              <a:rPr lang="en-US" dirty="0" err="1"/>
              <a:t>est</a:t>
            </a:r>
            <a:r>
              <a:rPr lang="en-US" dirty="0"/>
              <a:t> </a:t>
            </a:r>
            <a:r>
              <a:rPr lang="en-US" dirty="0" err="1"/>
              <a:t>validée</a:t>
            </a:r>
            <a:r>
              <a:rPr lang="en-US" dirty="0"/>
              <a:t>, les modifications ne </a:t>
            </a:r>
            <a:r>
              <a:rPr lang="en-US" dirty="0" err="1"/>
              <a:t>sont</a:t>
            </a:r>
            <a:r>
              <a:rPr lang="en-US" dirty="0"/>
              <a:t> pas perdues, </a:t>
            </a:r>
            <a:r>
              <a:rPr lang="en-US" dirty="0" err="1"/>
              <a:t>même</a:t>
            </a:r>
            <a:r>
              <a:rPr lang="en-US" dirty="0"/>
              <a:t> </a:t>
            </a:r>
            <a:r>
              <a:rPr lang="en-US" dirty="0" err="1"/>
              <a:t>en</a:t>
            </a:r>
            <a:r>
              <a:rPr lang="en-US" dirty="0"/>
              <a:t> </a:t>
            </a:r>
            <a:r>
              <a:rPr lang="en-US" dirty="0" err="1"/>
              <a:t>cas</a:t>
            </a:r>
            <a:r>
              <a:rPr lang="en-US" dirty="0"/>
              <a:t> de panne du </a:t>
            </a:r>
            <a:r>
              <a:rPr lang="en-US" dirty="0" err="1"/>
              <a:t>serveur</a:t>
            </a:r>
            <a:r>
              <a:rPr lang="en-US" dirty="0"/>
              <a:t>, </a:t>
            </a:r>
            <a:r>
              <a:rPr lang="en-US" dirty="0" err="1"/>
              <a:t>coupure</a:t>
            </a:r>
            <a:r>
              <a:rPr lang="en-US" dirty="0"/>
              <a:t> de courant </a:t>
            </a:r>
            <a:r>
              <a:rPr lang="en-US" dirty="0" err="1"/>
              <a:t>ou</a:t>
            </a:r>
            <a:r>
              <a:rPr lang="en-US" dirty="0"/>
              <a:t> </a:t>
            </a:r>
            <a:r>
              <a:rPr lang="en-US" dirty="0" err="1"/>
              <a:t>autre</a:t>
            </a:r>
            <a:r>
              <a:rPr lang="en-US" dirty="0"/>
              <a:t>.</a:t>
            </a:r>
            <a:endParaRPr lang="fr-FR" dirty="0"/>
          </a:p>
        </p:txBody>
      </p:sp>
      <p:pic>
        <p:nvPicPr>
          <p:cNvPr id="4" name="image12.png">
            <a:extLst>
              <a:ext uri="{FF2B5EF4-FFF2-40B4-BE49-F238E27FC236}">
                <a16:creationId xmlns:a16="http://schemas.microsoft.com/office/drawing/2014/main" id="{031A4C58-7AC2-4912-F5C0-0D96B9B2C5B5}"/>
              </a:ext>
            </a:extLst>
          </p:cNvPr>
          <p:cNvPicPr/>
          <p:nvPr/>
        </p:nvPicPr>
        <p:blipFill>
          <a:blip r:embed="rId2"/>
          <a:srcRect/>
          <a:stretch>
            <a:fillRect/>
          </a:stretch>
        </p:blipFill>
        <p:spPr>
          <a:xfrm>
            <a:off x="7366000" y="2330450"/>
            <a:ext cx="3987800" cy="2197100"/>
          </a:xfrm>
          <a:prstGeom prst="rect">
            <a:avLst/>
          </a:prstGeom>
          <a:ln/>
        </p:spPr>
      </p:pic>
    </p:spTree>
    <p:extLst>
      <p:ext uri="{BB962C8B-B14F-4D97-AF65-F5344CB8AC3E}">
        <p14:creationId xmlns:p14="http://schemas.microsoft.com/office/powerpoint/2010/main" val="128390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normAutofit fontScale="90000"/>
          </a:bodyPr>
          <a:lstStyle/>
          <a:p>
            <a:r>
              <a:rPr lang="fr-CH" dirty="0"/>
              <a:t>BASE –</a:t>
            </a:r>
            <a:br>
              <a:rPr lang="fr-CH" dirty="0"/>
            </a:br>
            <a:r>
              <a:rPr lang="fr-CH" dirty="0" err="1"/>
              <a:t>Basically</a:t>
            </a:r>
            <a:r>
              <a:rPr lang="fr-CH" dirty="0"/>
              <a:t> </a:t>
            </a:r>
            <a:r>
              <a:rPr lang="fr-CH" dirty="0" err="1"/>
              <a:t>Available</a:t>
            </a:r>
            <a:r>
              <a:rPr lang="fr-CH" dirty="0"/>
              <a:t> Soft state </a:t>
            </a:r>
            <a:r>
              <a:rPr lang="fr-CH" dirty="0" err="1"/>
              <a:t>Eventual</a:t>
            </a:r>
            <a:r>
              <a:rPr lang="fr-CH" dirty="0"/>
              <a:t> </a:t>
            </a:r>
            <a:r>
              <a:rPr lang="fr-CH" dirty="0" err="1"/>
              <a:t>consistency</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a:xfrm>
            <a:off x="838200" y="1825624"/>
            <a:ext cx="6100986" cy="4814457"/>
          </a:xfrm>
        </p:spPr>
        <p:txBody>
          <a:bodyPr>
            <a:normAutofit fontScale="92500" lnSpcReduction="20000"/>
          </a:bodyPr>
          <a:lstStyle/>
          <a:p>
            <a:r>
              <a:rPr lang="fr-CH" b="1" dirty="0" err="1"/>
              <a:t>Basically</a:t>
            </a:r>
            <a:r>
              <a:rPr lang="fr-CH" b="1" dirty="0"/>
              <a:t> </a:t>
            </a:r>
            <a:r>
              <a:rPr lang="fr-CH" b="1" dirty="0" err="1"/>
              <a:t>Available</a:t>
            </a:r>
            <a:r>
              <a:rPr lang="fr-CH" b="1" dirty="0"/>
              <a:t> </a:t>
            </a:r>
            <a:r>
              <a:rPr lang="fr-CH" dirty="0"/>
              <a:t>(essentiellement disponible): il y aura toujours une réponse de la part du serveur sans délai (pas de blocage), mais la réponse du serveur peut être </a:t>
            </a:r>
            <a:r>
              <a:rPr lang="fr-CH" i="1" dirty="0"/>
              <a:t>échec pour obtenir la ressource</a:t>
            </a:r>
            <a:r>
              <a:rPr lang="fr-CH" dirty="0"/>
              <a:t>, ou que la ressource soit dans un état incohérent ou changeant.</a:t>
            </a:r>
          </a:p>
          <a:p>
            <a:r>
              <a:rPr lang="fr-CH" b="1" dirty="0"/>
              <a:t>Soft state </a:t>
            </a:r>
            <a:r>
              <a:rPr lang="fr-CH" dirty="0"/>
              <a:t>(état changeant): l’état du système peut changer, même lorsqu’il n’y a pas de modifications; cela provient du fait que la mise à jour des nœuds n’est pas bloquante (synchronisée).</a:t>
            </a:r>
          </a:p>
          <a:p>
            <a:r>
              <a:rPr lang="fr-CH" b="1" dirty="0" err="1"/>
              <a:t>Eventual</a:t>
            </a:r>
            <a:r>
              <a:rPr lang="fr-CH" b="1" dirty="0"/>
              <a:t> </a:t>
            </a:r>
            <a:r>
              <a:rPr lang="fr-CH" b="1" dirty="0" err="1"/>
              <a:t>consistency</a:t>
            </a:r>
            <a:r>
              <a:rPr lang="fr-CH" b="1" dirty="0"/>
              <a:t> </a:t>
            </a:r>
            <a:r>
              <a:rPr lang="fr-CH" dirty="0"/>
              <a:t>(parfois cohérent): Le système sera parfois cohérent lorsqu’il ne recevra plus de modifications et que les nœuds se seront synchronisés.</a:t>
            </a:r>
          </a:p>
        </p:txBody>
      </p:sp>
      <p:pic>
        <p:nvPicPr>
          <p:cNvPr id="5" name="image13.png">
            <a:extLst>
              <a:ext uri="{FF2B5EF4-FFF2-40B4-BE49-F238E27FC236}">
                <a16:creationId xmlns:a16="http://schemas.microsoft.com/office/drawing/2014/main" id="{CF3EA2A2-FA6B-AB93-1198-6B4E8EE0E997}"/>
              </a:ext>
            </a:extLst>
          </p:cNvPr>
          <p:cNvPicPr/>
          <p:nvPr/>
        </p:nvPicPr>
        <p:blipFill>
          <a:blip r:embed="rId2"/>
          <a:srcRect/>
          <a:stretch>
            <a:fillRect/>
          </a:stretch>
        </p:blipFill>
        <p:spPr>
          <a:xfrm>
            <a:off x="7010400" y="2540794"/>
            <a:ext cx="5181600" cy="2921000"/>
          </a:xfrm>
          <a:prstGeom prst="rect">
            <a:avLst/>
          </a:prstGeom>
          <a:ln/>
        </p:spPr>
      </p:pic>
    </p:spTree>
    <p:extLst>
      <p:ext uri="{BB962C8B-B14F-4D97-AF65-F5344CB8AC3E}">
        <p14:creationId xmlns:p14="http://schemas.microsoft.com/office/powerpoint/2010/main" val="1685804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Isolation des transactions</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fontScale="92500" lnSpcReduction="20000"/>
          </a:bodyPr>
          <a:lstStyle/>
          <a:p>
            <a:r>
              <a:rPr lang="fr-FR" dirty="0"/>
              <a:t>Selon le niveau d’isolation des transactions, des phénomènes problématiques peuvent apparaître:</a:t>
            </a:r>
          </a:p>
          <a:p>
            <a:pPr lvl="1"/>
            <a:r>
              <a:rPr lang="fr-FR" b="1" dirty="0"/>
              <a:t>Dirty </a:t>
            </a:r>
            <a:r>
              <a:rPr lang="fr-FR" b="1" dirty="0" err="1"/>
              <a:t>read</a:t>
            </a:r>
            <a:r>
              <a:rPr lang="fr-FR" dirty="0"/>
              <a:t>: lorsqu’une </a:t>
            </a:r>
            <a:r>
              <a:rPr lang="fr-FR" b="1" dirty="0"/>
              <a:t>autre</a:t>
            </a:r>
            <a:r>
              <a:rPr lang="fr-FR" dirty="0"/>
              <a:t> transaction lit des données qui n’ont pas encore été </a:t>
            </a:r>
            <a:r>
              <a:rPr lang="fr-FR" dirty="0" err="1"/>
              <a:t>committées</a:t>
            </a:r>
            <a:r>
              <a:rPr lang="fr-FR" dirty="0"/>
              <a:t>.</a:t>
            </a:r>
            <a:br>
              <a:rPr lang="fr-FR" dirty="0"/>
            </a:br>
            <a:r>
              <a:rPr lang="fr-FR" u="sng" dirty="0"/>
              <a:t>Exemple</a:t>
            </a:r>
            <a:r>
              <a:rPr lang="fr-FR" dirty="0"/>
              <a:t>: la transaction 1 (T1) met à jour des lignes sans </a:t>
            </a:r>
            <a:r>
              <a:rPr lang="fr-FR" dirty="0" err="1"/>
              <a:t>committer</a:t>
            </a:r>
            <a:r>
              <a:rPr lang="fr-FR" dirty="0"/>
              <a:t>, la transaction 2 (T2) lit ces lignes mises à jour, puis T1 annule (roll back) la mise à jour; au final, T2 aura lu des données qui sont considérées comme n’ayant jamais existé.</a:t>
            </a:r>
          </a:p>
          <a:p>
            <a:pPr lvl="1"/>
            <a:r>
              <a:rPr lang="fr-FR" b="1" dirty="0"/>
              <a:t>Non </a:t>
            </a:r>
            <a:r>
              <a:rPr lang="fr-FR" b="1" dirty="0" err="1"/>
              <a:t>repeatable</a:t>
            </a:r>
            <a:r>
              <a:rPr lang="fr-FR" b="1" dirty="0"/>
              <a:t> </a:t>
            </a:r>
            <a:r>
              <a:rPr lang="fr-FR" b="1" dirty="0" err="1"/>
              <a:t>read</a:t>
            </a:r>
            <a:r>
              <a:rPr lang="fr-FR" dirty="0"/>
              <a:t>: lorsqu’une transaction lit deux fois la même </a:t>
            </a:r>
            <a:r>
              <a:rPr lang="fr-FR" b="1" dirty="0"/>
              <a:t>ligne</a:t>
            </a:r>
            <a:r>
              <a:rPr lang="fr-FR" dirty="0"/>
              <a:t>, mais obtient des données différentes.</a:t>
            </a:r>
            <a:br>
              <a:rPr lang="fr-FR" dirty="0"/>
            </a:br>
            <a:r>
              <a:rPr lang="fr-FR" u="sng" dirty="0"/>
              <a:t>Exemple</a:t>
            </a:r>
            <a:r>
              <a:rPr lang="fr-FR" dirty="0"/>
              <a:t>: T1 lit une ligne, grâce à la concurrence, T2 </a:t>
            </a:r>
            <a:r>
              <a:rPr lang="fr-FR" b="1" dirty="0"/>
              <a:t>met à jour </a:t>
            </a:r>
            <a:r>
              <a:rPr lang="fr-FR" dirty="0"/>
              <a:t>la même ligne et </a:t>
            </a:r>
            <a:r>
              <a:rPr lang="fr-FR" dirty="0" err="1"/>
              <a:t>commite</a:t>
            </a:r>
            <a:r>
              <a:rPr lang="fr-FR" dirty="0"/>
              <a:t>, T1 relit la même ligne et récupère la ligne mise à jour par T2.</a:t>
            </a:r>
          </a:p>
          <a:p>
            <a:pPr lvl="1"/>
            <a:r>
              <a:rPr lang="fr-FR" b="1" dirty="0"/>
              <a:t>Phantom </a:t>
            </a:r>
            <a:r>
              <a:rPr lang="fr-FR" b="1" dirty="0" err="1"/>
              <a:t>read</a:t>
            </a:r>
            <a:r>
              <a:rPr lang="fr-FR" dirty="0"/>
              <a:t>: lorsqu’une transaction exécute deux fois la même </a:t>
            </a:r>
            <a:r>
              <a:rPr lang="fr-FR" b="1" dirty="0"/>
              <a:t>requête</a:t>
            </a:r>
            <a:r>
              <a:rPr lang="fr-FR" dirty="0"/>
              <a:t>, mais obtient des résultats différents.</a:t>
            </a:r>
            <a:br>
              <a:rPr lang="fr-FR" dirty="0"/>
            </a:br>
            <a:r>
              <a:rPr lang="fr-FR" u="sng" dirty="0"/>
              <a:t>Exemple</a:t>
            </a:r>
            <a:r>
              <a:rPr lang="fr-FR" dirty="0"/>
              <a:t>: T1 exécute une requête et récupère L lignes, grâce à la concurrence, T2 </a:t>
            </a:r>
            <a:r>
              <a:rPr lang="fr-FR" b="1" dirty="0"/>
              <a:t>insère</a:t>
            </a:r>
            <a:r>
              <a:rPr lang="fr-FR" dirty="0"/>
              <a:t> N nouvelles lignes ou </a:t>
            </a:r>
            <a:r>
              <a:rPr lang="fr-FR" b="1" dirty="0"/>
              <a:t>supprime</a:t>
            </a:r>
            <a:r>
              <a:rPr lang="fr-FR" dirty="0"/>
              <a:t> S lignes et </a:t>
            </a:r>
            <a:r>
              <a:rPr lang="fr-FR" dirty="0" err="1"/>
              <a:t>commite</a:t>
            </a:r>
            <a:r>
              <a:rPr lang="fr-FR" dirty="0"/>
              <a:t>, T1 re-</a:t>
            </a:r>
            <a:r>
              <a:rPr lang="fr-FR" dirty="0" err="1"/>
              <a:t>éxécute</a:t>
            </a:r>
            <a:r>
              <a:rPr lang="fr-FR" dirty="0"/>
              <a:t> la même requête et récupère L+N-S lignes.</a:t>
            </a:r>
          </a:p>
        </p:txBody>
      </p:sp>
    </p:spTree>
    <p:extLst>
      <p:ext uri="{BB962C8B-B14F-4D97-AF65-F5344CB8AC3E}">
        <p14:creationId xmlns:p14="http://schemas.microsoft.com/office/powerpoint/2010/main" val="989994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Isolation des transactions</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fontScale="85000" lnSpcReduction="10000"/>
          </a:bodyPr>
          <a:lstStyle/>
          <a:p>
            <a:r>
              <a:rPr lang="fr-FR" dirty="0"/>
              <a:t>A partir de ces phénomènes, le SQL standard a défini 4 niveaux d’isolation:</a:t>
            </a:r>
          </a:p>
          <a:p>
            <a:pPr lvl="1"/>
            <a:r>
              <a:rPr lang="fr-FR" b="1" dirty="0"/>
              <a:t>Read </a:t>
            </a:r>
            <a:r>
              <a:rPr lang="fr-FR" b="1" dirty="0" err="1"/>
              <a:t>uncommitted</a:t>
            </a:r>
            <a:r>
              <a:rPr lang="fr-FR" dirty="0"/>
              <a:t>: le plus bas niveau d’isolation</a:t>
            </a:r>
          </a:p>
          <a:p>
            <a:pPr lvl="1"/>
            <a:r>
              <a:rPr lang="fr-FR" b="1" dirty="0"/>
              <a:t>Read </a:t>
            </a:r>
            <a:r>
              <a:rPr lang="fr-FR" b="1" dirty="0" err="1"/>
              <a:t>committed</a:t>
            </a:r>
            <a:endParaRPr lang="fr-FR" dirty="0"/>
          </a:p>
          <a:p>
            <a:pPr lvl="1"/>
            <a:r>
              <a:rPr lang="fr-FR" b="1" dirty="0" err="1"/>
              <a:t>Repeatable</a:t>
            </a:r>
            <a:r>
              <a:rPr lang="fr-FR" b="1" dirty="0"/>
              <a:t> </a:t>
            </a:r>
            <a:r>
              <a:rPr lang="fr-FR" b="1" dirty="0" err="1"/>
              <a:t>read</a:t>
            </a:r>
            <a:endParaRPr lang="fr-FR" dirty="0"/>
          </a:p>
          <a:p>
            <a:pPr lvl="1"/>
            <a:r>
              <a:rPr lang="fr-FR" b="1" dirty="0" err="1"/>
              <a:t>Serialize</a:t>
            </a:r>
            <a:r>
              <a:rPr lang="fr-FR" dirty="0"/>
              <a:t>: le plus haut niveau d’isolation, il n’y a aucune concurrence entre les transactions</a:t>
            </a:r>
          </a:p>
          <a:p>
            <a:endParaRPr lang="fr-FR" dirty="0"/>
          </a:p>
          <a:p>
            <a:endParaRPr lang="fr-FR" dirty="0"/>
          </a:p>
          <a:p>
            <a:pPr marL="0" indent="0">
              <a:buNone/>
            </a:pPr>
            <a:endParaRPr lang="fr-FR" dirty="0"/>
          </a:p>
          <a:p>
            <a:pPr marL="0" indent="0">
              <a:buNone/>
            </a:pPr>
            <a:endParaRPr lang="fr-FR" dirty="0"/>
          </a:p>
          <a:p>
            <a:r>
              <a:rPr lang="fr-FR" b="1" dirty="0"/>
              <a:t>Avec NoSQL, nous n’avons aucune isolation des transactions!</a:t>
            </a:r>
            <a:br>
              <a:rPr lang="fr-FR" b="1" dirty="0"/>
            </a:br>
            <a:r>
              <a:rPr lang="fr-FR" dirty="0"/>
              <a:t>Même les mises à jour </a:t>
            </a:r>
            <a:r>
              <a:rPr lang="fr-FR" dirty="0" err="1"/>
              <a:t>committées</a:t>
            </a:r>
            <a:r>
              <a:rPr lang="fr-FR" dirty="0"/>
              <a:t> ne sont pas visibles immédiatement partout.</a:t>
            </a:r>
          </a:p>
        </p:txBody>
      </p:sp>
      <p:pic>
        <p:nvPicPr>
          <p:cNvPr id="7" name="image10.png">
            <a:extLst>
              <a:ext uri="{FF2B5EF4-FFF2-40B4-BE49-F238E27FC236}">
                <a16:creationId xmlns:a16="http://schemas.microsoft.com/office/drawing/2014/main" id="{06A6AC86-8A4D-193F-6563-D0A2EC5E2533}"/>
              </a:ext>
            </a:extLst>
          </p:cNvPr>
          <p:cNvPicPr/>
          <p:nvPr/>
        </p:nvPicPr>
        <p:blipFill>
          <a:blip r:embed="rId2"/>
          <a:srcRect/>
          <a:stretch>
            <a:fillRect/>
          </a:stretch>
        </p:blipFill>
        <p:spPr>
          <a:xfrm>
            <a:off x="3230562" y="3595255"/>
            <a:ext cx="5730875" cy="1498600"/>
          </a:xfrm>
          <a:prstGeom prst="rect">
            <a:avLst/>
          </a:prstGeom>
          <a:ln/>
        </p:spPr>
      </p:pic>
    </p:spTree>
    <p:extLst>
      <p:ext uri="{BB962C8B-B14F-4D97-AF65-F5344CB8AC3E}">
        <p14:creationId xmlns:p14="http://schemas.microsoft.com/office/powerpoint/2010/main" val="2931184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Plusieurs serveurs pour la même application</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fontScale="92500" lnSpcReduction="20000"/>
          </a:bodyPr>
          <a:lstStyle/>
          <a:p>
            <a:r>
              <a:rPr lang="fr-FR" dirty="0"/>
              <a:t>Réplication (données dupliquées)</a:t>
            </a:r>
          </a:p>
          <a:p>
            <a:r>
              <a:rPr lang="fr-FR" dirty="0"/>
              <a:t>Clusters (données divisées (</a:t>
            </a:r>
            <a:r>
              <a:rPr lang="fr-FR" dirty="0" err="1"/>
              <a:t>splitted</a:t>
            </a:r>
            <a:r>
              <a:rPr lang="fr-FR" dirty="0"/>
              <a:t>))</a:t>
            </a:r>
          </a:p>
          <a:p>
            <a:r>
              <a:rPr lang="fr-FR" dirty="0"/>
              <a:t>Plusieurs architectures possibles:</a:t>
            </a:r>
          </a:p>
          <a:p>
            <a:pPr lvl="1"/>
            <a:r>
              <a:rPr lang="fr-FR" dirty="0"/>
              <a:t>maître-esclave(s):</a:t>
            </a:r>
          </a:p>
          <a:p>
            <a:pPr lvl="2"/>
            <a:r>
              <a:rPr lang="fr-FR" dirty="0"/>
              <a:t>un </a:t>
            </a:r>
            <a:r>
              <a:rPr lang="fr-FR" b="1" dirty="0"/>
              <a:t>unique</a:t>
            </a:r>
            <a:r>
              <a:rPr lang="fr-FR" dirty="0"/>
              <a:t> maître est désigné pour effectuer toutes les requêtes en écriture</a:t>
            </a:r>
          </a:p>
          <a:p>
            <a:pPr lvl="2"/>
            <a:r>
              <a:rPr lang="fr-FR" dirty="0"/>
              <a:t>utilisé pour assurer la tolérance aux pannes et augmenter les performances en lecture =&gt; seul le maître met à jour, mais les esclaves peuvent répondre aux requêtes de lecture</a:t>
            </a:r>
          </a:p>
          <a:p>
            <a:pPr lvl="2"/>
            <a:r>
              <a:rPr lang="fr-FR" dirty="0"/>
              <a:t>lorsque le maître reçoit une requête en écriture, il valide et exécute localement cette requête avant de la faire suivre aux esclaves pour qu'ils exécutent localement le même changement et obtenir le même état que le maître</a:t>
            </a:r>
          </a:p>
          <a:p>
            <a:pPr lvl="1"/>
            <a:r>
              <a:rPr lang="fr-FR" dirty="0"/>
              <a:t>multi-maîtres: </a:t>
            </a:r>
          </a:p>
          <a:p>
            <a:pPr lvl="2"/>
            <a:r>
              <a:rPr lang="fr-FR" dirty="0"/>
              <a:t>n’importe quel serveur peut traiter une requête en écriture</a:t>
            </a:r>
          </a:p>
          <a:p>
            <a:pPr lvl="2"/>
            <a:r>
              <a:rPr lang="fr-FR" dirty="0"/>
              <a:t>pose des problèmes de la gestion de la concurrence: plusieurs processus qui travailleraient de manière incontrôlée sur les mêmes données pourraient remettre en cause la cohérence globale du système</a:t>
            </a:r>
          </a:p>
          <a:p>
            <a:pPr marL="457200" lvl="1" indent="0">
              <a:buNone/>
            </a:pPr>
            <a:endParaRPr lang="fr-FR" dirty="0"/>
          </a:p>
          <a:p>
            <a:pPr lvl="1"/>
            <a:endParaRPr lang="fr-FR" dirty="0"/>
          </a:p>
        </p:txBody>
      </p:sp>
    </p:spTree>
    <p:extLst>
      <p:ext uri="{BB962C8B-B14F-4D97-AF65-F5344CB8AC3E}">
        <p14:creationId xmlns:p14="http://schemas.microsoft.com/office/powerpoint/2010/main" val="1539373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Synchronisation des données</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a:bodyPr>
          <a:lstStyle/>
          <a:p>
            <a:r>
              <a:rPr lang="fr-FR" dirty="0"/>
              <a:t>Du moment qu’on souhaite de la réplication des données, tout en profitant du clustering, l’architecture se complexifie rapidement afin de garantir la sécurité et disponibilité des données</a:t>
            </a:r>
          </a:p>
          <a:p>
            <a:pPr marL="457200" lvl="1" indent="0">
              <a:buNone/>
            </a:pPr>
            <a:endParaRPr lang="fr-FR" dirty="0"/>
          </a:p>
          <a:p>
            <a:pPr lvl="1"/>
            <a:endParaRPr lang="fr-FR" dirty="0"/>
          </a:p>
        </p:txBody>
      </p:sp>
      <p:pic>
        <p:nvPicPr>
          <p:cNvPr id="4" name="image6.png">
            <a:extLst>
              <a:ext uri="{FF2B5EF4-FFF2-40B4-BE49-F238E27FC236}">
                <a16:creationId xmlns:a16="http://schemas.microsoft.com/office/drawing/2014/main" id="{5B28930D-334F-8BDC-D35D-404D7EF7F066}"/>
              </a:ext>
            </a:extLst>
          </p:cNvPr>
          <p:cNvPicPr/>
          <p:nvPr/>
        </p:nvPicPr>
        <p:blipFill>
          <a:blip r:embed="rId2"/>
          <a:srcRect/>
          <a:stretch>
            <a:fillRect/>
          </a:stretch>
        </p:blipFill>
        <p:spPr>
          <a:xfrm>
            <a:off x="3508736" y="2982190"/>
            <a:ext cx="5174528" cy="3875810"/>
          </a:xfrm>
          <a:prstGeom prst="rect">
            <a:avLst/>
          </a:prstGeom>
          <a:ln/>
        </p:spPr>
      </p:pic>
    </p:spTree>
    <p:extLst>
      <p:ext uri="{BB962C8B-B14F-4D97-AF65-F5344CB8AC3E}">
        <p14:creationId xmlns:p14="http://schemas.microsoft.com/office/powerpoint/2010/main" val="922163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err="1"/>
              <a:t>Scalability</a:t>
            </a:r>
            <a:r>
              <a:rPr lang="fr-CH" dirty="0"/>
              <a:t> (augmentation des capacités)</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a:bodyPr>
          <a:lstStyle/>
          <a:p>
            <a:pPr marL="457200" lvl="1" indent="0">
              <a:buNone/>
            </a:pPr>
            <a:endParaRPr lang="fr-FR" dirty="0"/>
          </a:p>
          <a:p>
            <a:pPr lvl="1"/>
            <a:r>
              <a:rPr lang="fr-FR" sz="1800" b="1" dirty="0">
                <a:effectLst/>
                <a:latin typeface="Arial" panose="020B0604020202020204" pitchFamily="34" charset="0"/>
                <a:ea typeface="Times New Roman" panose="02020603050405020304" pitchFamily="18" charset="0"/>
                <a:cs typeface="Times New Roman" panose="02020603050405020304" pitchFamily="18" charset="0"/>
              </a:rPr>
              <a:t>Horizontal</a:t>
            </a:r>
            <a:r>
              <a:rPr lang="fr-FR" sz="1800" dirty="0">
                <a:effectLst/>
                <a:latin typeface="Arial" panose="020B0604020202020204" pitchFamily="34" charset="0"/>
                <a:ea typeface="Times New Roman" panose="02020603050405020304" pitchFamily="18" charset="0"/>
                <a:cs typeface="Times New Roman" panose="02020603050405020304" pitchFamily="18" charset="0"/>
              </a:rPr>
              <a:t> </a:t>
            </a:r>
            <a:r>
              <a:rPr lang="fr-FR" sz="1800" dirty="0" err="1">
                <a:effectLst/>
                <a:latin typeface="Arial" panose="020B0604020202020204" pitchFamily="34" charset="0"/>
                <a:ea typeface="Times New Roman" panose="02020603050405020304" pitchFamily="18" charset="0"/>
                <a:cs typeface="Times New Roman" panose="02020603050405020304" pitchFamily="18" charset="0"/>
              </a:rPr>
              <a:t>scaling</a:t>
            </a:r>
            <a:r>
              <a:rPr lang="fr-FR" sz="1800" dirty="0">
                <a:effectLst/>
                <a:latin typeface="Arial" panose="020B0604020202020204" pitchFamily="34" charset="0"/>
                <a:ea typeface="Times New Roman" panose="02020603050405020304" pitchFamily="18" charset="0"/>
                <a:cs typeface="Times New Roman" panose="02020603050405020304" pitchFamily="18" charset="0"/>
              </a:rPr>
              <a:t> (augmentation horizontale): augmenter le nombre de machines</a:t>
            </a:r>
          </a:p>
          <a:p>
            <a:pPr lvl="1"/>
            <a:r>
              <a:rPr lang="fr-FR" sz="1800" b="1" dirty="0">
                <a:latin typeface="Arial" panose="020B0604020202020204" pitchFamily="34" charset="0"/>
                <a:ea typeface="Times New Roman" panose="02020603050405020304" pitchFamily="18" charset="0"/>
                <a:cs typeface="Times New Roman" panose="02020603050405020304" pitchFamily="18" charset="0"/>
              </a:rPr>
              <a:t>V</a:t>
            </a:r>
            <a:r>
              <a:rPr lang="fr-FR" sz="1800" b="1" dirty="0">
                <a:effectLst/>
                <a:latin typeface="Arial" panose="020B0604020202020204" pitchFamily="34" charset="0"/>
                <a:ea typeface="Times New Roman" panose="02020603050405020304" pitchFamily="18" charset="0"/>
                <a:cs typeface="Times New Roman" panose="02020603050405020304" pitchFamily="18" charset="0"/>
              </a:rPr>
              <a:t>ertical</a:t>
            </a:r>
            <a:r>
              <a:rPr lang="fr-FR" sz="1800" dirty="0">
                <a:effectLst/>
                <a:latin typeface="Arial" panose="020B0604020202020204" pitchFamily="34" charset="0"/>
                <a:ea typeface="Times New Roman" panose="02020603050405020304" pitchFamily="18" charset="0"/>
                <a:cs typeface="Times New Roman" panose="02020603050405020304" pitchFamily="18" charset="0"/>
              </a:rPr>
              <a:t> </a:t>
            </a:r>
            <a:r>
              <a:rPr lang="fr-FR" sz="1800" dirty="0" err="1">
                <a:effectLst/>
                <a:latin typeface="Arial" panose="020B0604020202020204" pitchFamily="34" charset="0"/>
                <a:ea typeface="Times New Roman" panose="02020603050405020304" pitchFamily="18" charset="0"/>
                <a:cs typeface="Times New Roman" panose="02020603050405020304" pitchFamily="18" charset="0"/>
              </a:rPr>
              <a:t>scaling</a:t>
            </a:r>
            <a:r>
              <a:rPr lang="fr-FR" sz="1800" dirty="0">
                <a:effectLst/>
                <a:latin typeface="Arial" panose="020B0604020202020204" pitchFamily="34" charset="0"/>
                <a:ea typeface="Times New Roman" panose="02020603050405020304" pitchFamily="18" charset="0"/>
                <a:cs typeface="Times New Roman" panose="02020603050405020304" pitchFamily="18" charset="0"/>
              </a:rPr>
              <a:t> (augmentation verticale): augmenter la puissance d’une ou plusieurs machines (CPU, RAM, etc.)</a:t>
            </a:r>
            <a:endParaRPr lang="fr-FR" dirty="0"/>
          </a:p>
        </p:txBody>
      </p:sp>
      <p:pic>
        <p:nvPicPr>
          <p:cNvPr id="4" name="image9.png">
            <a:extLst>
              <a:ext uri="{FF2B5EF4-FFF2-40B4-BE49-F238E27FC236}">
                <a16:creationId xmlns:a16="http://schemas.microsoft.com/office/drawing/2014/main" id="{8A2858DF-4A1C-B11E-F052-F552196B3E9C}"/>
              </a:ext>
            </a:extLst>
          </p:cNvPr>
          <p:cNvPicPr/>
          <p:nvPr/>
        </p:nvPicPr>
        <p:blipFill>
          <a:blip r:embed="rId2"/>
          <a:srcRect/>
          <a:stretch>
            <a:fillRect/>
          </a:stretch>
        </p:blipFill>
        <p:spPr>
          <a:xfrm>
            <a:off x="3230562" y="3429000"/>
            <a:ext cx="5730875" cy="2476500"/>
          </a:xfrm>
          <a:prstGeom prst="rect">
            <a:avLst/>
          </a:prstGeom>
          <a:ln/>
        </p:spPr>
      </p:pic>
    </p:spTree>
    <p:extLst>
      <p:ext uri="{BB962C8B-B14F-4D97-AF65-F5344CB8AC3E}">
        <p14:creationId xmlns:p14="http://schemas.microsoft.com/office/powerpoint/2010/main" val="991320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err="1"/>
              <a:t>Scalability</a:t>
            </a:r>
            <a:r>
              <a:rPr lang="fr-CH" dirty="0"/>
              <a:t> (augmentation des capacités)</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lnSpcReduction="10000"/>
          </a:bodyPr>
          <a:lstStyle/>
          <a:p>
            <a:pPr lvl="1"/>
            <a:r>
              <a:rPr lang="fr-CH" b="1" dirty="0"/>
              <a:t>Performance</a:t>
            </a:r>
            <a:r>
              <a:rPr lang="fr-CH" dirty="0"/>
              <a:t>: avec l’augmentation horizontale, il faut que chaque machine ait suffisamment de ressources pour effectuer le travail.</a:t>
            </a:r>
          </a:p>
          <a:p>
            <a:pPr lvl="1"/>
            <a:r>
              <a:rPr lang="fr-CH" b="1" dirty="0"/>
              <a:t>Fréquence des mises à jour</a:t>
            </a:r>
            <a:r>
              <a:rPr lang="fr-CH" dirty="0"/>
              <a:t>: avec l’augmentation verticale, l’installation des mises à jour peut plus rapidement rendre le système indisponible. Si le système supporte d’avoir plusieurs versions du logiciel qui tournent en même temps, l’augmentation horizontale réduira l’indisponibilité lors de mises à jour.</a:t>
            </a:r>
          </a:p>
          <a:p>
            <a:pPr lvl="1"/>
            <a:r>
              <a:rPr lang="fr-CH" b="1" dirty="0"/>
              <a:t>Redondance</a:t>
            </a:r>
            <a:r>
              <a:rPr lang="fr-CH" dirty="0"/>
              <a:t>: l’augmentation horizontale offre implicitement de la redondance, alors que l’augmentation verticale est plus fragile (indisponibilité plus probable)</a:t>
            </a:r>
          </a:p>
          <a:p>
            <a:pPr lvl="1"/>
            <a:r>
              <a:rPr lang="fr-CH" b="1" dirty="0"/>
              <a:t>Distribution géographique</a:t>
            </a:r>
            <a:r>
              <a:rPr lang="fr-CH" dirty="0"/>
              <a:t>: lorsque l’on souhaite avoir plusieurs data centers pour améliorer les temps de réponse ou pour des raisons légales, le système doit supporter l’augmentation horizontale.</a:t>
            </a:r>
          </a:p>
        </p:txBody>
      </p:sp>
    </p:spTree>
    <p:extLst>
      <p:ext uri="{BB962C8B-B14F-4D97-AF65-F5344CB8AC3E}">
        <p14:creationId xmlns:p14="http://schemas.microsoft.com/office/powerpoint/2010/main" val="4136418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Réplication avec MongoDB</a:t>
            </a:r>
            <a:endParaRPr lang="en-US" dirty="0"/>
          </a:p>
        </p:txBody>
      </p:sp>
      <p:pic>
        <p:nvPicPr>
          <p:cNvPr id="4" name="image4.png">
            <a:extLst>
              <a:ext uri="{FF2B5EF4-FFF2-40B4-BE49-F238E27FC236}">
                <a16:creationId xmlns:a16="http://schemas.microsoft.com/office/drawing/2014/main" id="{0F69589D-545F-E418-B1C3-3156B70B9B50}"/>
              </a:ext>
            </a:extLst>
          </p:cNvPr>
          <p:cNvPicPr>
            <a:picLocks noGrp="1"/>
          </p:cNvPicPr>
          <p:nvPr>
            <p:ph idx="1"/>
          </p:nvPr>
        </p:nvPicPr>
        <p:blipFill>
          <a:blip r:embed="rId2"/>
          <a:srcRect/>
          <a:stretch>
            <a:fillRect/>
          </a:stretch>
        </p:blipFill>
        <p:spPr>
          <a:xfrm>
            <a:off x="3435419" y="1690688"/>
            <a:ext cx="5321162" cy="4351338"/>
          </a:xfrm>
          <a:prstGeom prst="rect">
            <a:avLst/>
          </a:prstGeom>
          <a:ln/>
        </p:spPr>
      </p:pic>
    </p:spTree>
    <p:extLst>
      <p:ext uri="{BB962C8B-B14F-4D97-AF65-F5344CB8AC3E}">
        <p14:creationId xmlns:p14="http://schemas.microsoft.com/office/powerpoint/2010/main" val="2847914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Réplication avec MongoDB</a:t>
            </a:r>
            <a:endParaRPr lang="en-US" dirty="0"/>
          </a:p>
        </p:txBody>
      </p:sp>
      <p:sp>
        <p:nvSpPr>
          <p:cNvPr id="5" name="Content Placeholder 4">
            <a:extLst>
              <a:ext uri="{FF2B5EF4-FFF2-40B4-BE49-F238E27FC236}">
                <a16:creationId xmlns:a16="http://schemas.microsoft.com/office/drawing/2014/main" id="{1D021F7E-BDF2-9525-4E66-39FE9487D19E}"/>
              </a:ext>
            </a:extLst>
          </p:cNvPr>
          <p:cNvSpPr>
            <a:spLocks noGrp="1"/>
          </p:cNvSpPr>
          <p:nvPr>
            <p:ph idx="1"/>
          </p:nvPr>
        </p:nvSpPr>
        <p:spPr/>
        <p:txBody>
          <a:bodyPr/>
          <a:lstStyle/>
          <a:p>
            <a:endParaRPr lang="en-CH"/>
          </a:p>
        </p:txBody>
      </p:sp>
      <p:pic>
        <p:nvPicPr>
          <p:cNvPr id="6" name="image1.png">
            <a:extLst>
              <a:ext uri="{FF2B5EF4-FFF2-40B4-BE49-F238E27FC236}">
                <a16:creationId xmlns:a16="http://schemas.microsoft.com/office/drawing/2014/main" id="{7B3383CC-A6BC-1734-1079-55674E46A634}"/>
              </a:ext>
            </a:extLst>
          </p:cNvPr>
          <p:cNvPicPr/>
          <p:nvPr/>
        </p:nvPicPr>
        <p:blipFill>
          <a:blip r:embed="rId2"/>
          <a:srcRect/>
          <a:stretch>
            <a:fillRect/>
          </a:stretch>
        </p:blipFill>
        <p:spPr>
          <a:xfrm>
            <a:off x="3230562" y="2915444"/>
            <a:ext cx="5730875" cy="2171700"/>
          </a:xfrm>
          <a:prstGeom prst="rect">
            <a:avLst/>
          </a:prstGeom>
          <a:ln/>
        </p:spPr>
      </p:pic>
    </p:spTree>
    <p:extLst>
      <p:ext uri="{BB962C8B-B14F-4D97-AF65-F5344CB8AC3E}">
        <p14:creationId xmlns:p14="http://schemas.microsoft.com/office/powerpoint/2010/main" val="1477478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Réplication avec MongoDB</a:t>
            </a:r>
            <a:endParaRPr lang="en-US" dirty="0"/>
          </a:p>
        </p:txBody>
      </p:sp>
      <p:sp>
        <p:nvSpPr>
          <p:cNvPr id="5" name="Content Placeholder 4">
            <a:extLst>
              <a:ext uri="{FF2B5EF4-FFF2-40B4-BE49-F238E27FC236}">
                <a16:creationId xmlns:a16="http://schemas.microsoft.com/office/drawing/2014/main" id="{ADA9E40B-08C1-7F52-2EE2-3BEAD0D7BEDC}"/>
              </a:ext>
            </a:extLst>
          </p:cNvPr>
          <p:cNvSpPr>
            <a:spLocks noGrp="1"/>
          </p:cNvSpPr>
          <p:nvPr>
            <p:ph idx="1"/>
          </p:nvPr>
        </p:nvSpPr>
        <p:spPr/>
        <p:txBody>
          <a:bodyPr/>
          <a:lstStyle/>
          <a:p>
            <a:endParaRPr lang="en-CH"/>
          </a:p>
        </p:txBody>
      </p:sp>
      <p:pic>
        <p:nvPicPr>
          <p:cNvPr id="6" name="image5.png">
            <a:extLst>
              <a:ext uri="{FF2B5EF4-FFF2-40B4-BE49-F238E27FC236}">
                <a16:creationId xmlns:a16="http://schemas.microsoft.com/office/drawing/2014/main" id="{CDE5D72F-6455-BA53-6F0E-F3FA445A65A0}"/>
              </a:ext>
            </a:extLst>
          </p:cNvPr>
          <p:cNvPicPr/>
          <p:nvPr/>
        </p:nvPicPr>
        <p:blipFill>
          <a:blip r:embed="rId2"/>
          <a:srcRect/>
          <a:stretch>
            <a:fillRect/>
          </a:stretch>
        </p:blipFill>
        <p:spPr>
          <a:xfrm>
            <a:off x="3230562" y="1968500"/>
            <a:ext cx="5730875" cy="4343400"/>
          </a:xfrm>
          <a:prstGeom prst="rect">
            <a:avLst/>
          </a:prstGeom>
          <a:ln/>
        </p:spPr>
      </p:pic>
    </p:spTree>
    <p:extLst>
      <p:ext uri="{BB962C8B-B14F-4D97-AF65-F5344CB8AC3E}">
        <p14:creationId xmlns:p14="http://schemas.microsoft.com/office/powerpoint/2010/main" val="381384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Réplication avec MongoDB</a:t>
            </a:r>
            <a:endParaRPr lang="en-US" dirty="0"/>
          </a:p>
        </p:txBody>
      </p:sp>
      <p:sp>
        <p:nvSpPr>
          <p:cNvPr id="5" name="Content Placeholder 4">
            <a:extLst>
              <a:ext uri="{FF2B5EF4-FFF2-40B4-BE49-F238E27FC236}">
                <a16:creationId xmlns:a16="http://schemas.microsoft.com/office/drawing/2014/main" id="{EB8927D3-6144-9935-33BD-63E117F95155}"/>
              </a:ext>
            </a:extLst>
          </p:cNvPr>
          <p:cNvSpPr>
            <a:spLocks noGrp="1"/>
          </p:cNvSpPr>
          <p:nvPr>
            <p:ph idx="1"/>
          </p:nvPr>
        </p:nvSpPr>
        <p:spPr/>
        <p:txBody>
          <a:bodyPr>
            <a:normAutofit/>
          </a:bodyPr>
          <a:lstStyle/>
          <a:p>
            <a:pPr marL="0" indent="0">
              <a:buNone/>
            </a:pPr>
            <a:r>
              <a:rPr lang="en-US" sz="1800" dirty="0">
                <a:latin typeface="Courier New" panose="02070309020205020404" pitchFamily="49" charset="0"/>
                <a:cs typeface="Courier New" panose="02070309020205020404" pitchFamily="49" charset="0"/>
              </a:rPr>
              <a:t>string </a:t>
            </a:r>
            <a:r>
              <a:rPr lang="en-US" sz="1800" dirty="0" err="1">
                <a:latin typeface="Courier New" panose="02070309020205020404" pitchFamily="49" charset="0"/>
                <a:cs typeface="Courier New" panose="02070309020205020404" pitchFamily="49" charset="0"/>
              </a:rPr>
              <a:t>connectionStr</a:t>
            </a:r>
            <a:r>
              <a:rPr lang="en-US" sz="1800" dirty="0">
                <a:latin typeface="Courier New" panose="02070309020205020404" pitchFamily="49" charset="0"/>
                <a:cs typeface="Courier New" panose="02070309020205020404" pitchFamily="49" charset="0"/>
              </a:rPr>
              <a:t> = "</a:t>
            </a:r>
            <a:r>
              <a:rPr lang="en-US" sz="1800" dirty="0" err="1">
                <a:latin typeface="Courier New" panose="02070309020205020404" pitchFamily="49" charset="0"/>
                <a:cs typeface="Courier New" panose="02070309020205020404" pitchFamily="49" charset="0"/>
              </a:rPr>
              <a:t>mongodb</a:t>
            </a:r>
            <a:r>
              <a:rPr lang="en-US" sz="1800" dirty="0">
                <a:latin typeface="Courier New" panose="02070309020205020404" pitchFamily="49" charset="0"/>
                <a:cs typeface="Courier New" panose="02070309020205020404" pitchFamily="49" charset="0"/>
              </a:rPr>
              <a:t>://server1:27017,server2:27017,server3:27017/?</a:t>
            </a:r>
            <a:r>
              <a:rPr lang="en-US" sz="1800" dirty="0" err="1">
                <a:latin typeface="Courier New" panose="02070309020205020404" pitchFamily="49" charset="0"/>
                <a:cs typeface="Courier New" panose="02070309020205020404" pitchFamily="49" charset="0"/>
              </a:rPr>
              <a:t>replicaSet</a:t>
            </a:r>
            <a:r>
              <a:rPr lang="en-US" sz="1800" dirty="0">
                <a:latin typeface="Courier New" panose="02070309020205020404" pitchFamily="49" charset="0"/>
                <a:cs typeface="Courier New" panose="02070309020205020404" pitchFamily="49" charset="0"/>
              </a:rPr>
              <a:t>=rep1";</a:t>
            </a:r>
          </a:p>
          <a:p>
            <a:pPr marL="0" indent="0">
              <a:buNone/>
            </a:pPr>
            <a:endParaRPr lang="en-US" sz="1800" dirty="0">
              <a:latin typeface="Courier New" panose="02070309020205020404" pitchFamily="49" charset="0"/>
              <a:cs typeface="Courier New" panose="02070309020205020404" pitchFamily="49" charset="0"/>
            </a:endParaRPr>
          </a:p>
          <a:p>
            <a:pPr marL="0" indent="0">
              <a:buNone/>
            </a:pPr>
            <a:r>
              <a:rPr lang="en-US" sz="1800" dirty="0" err="1">
                <a:latin typeface="Courier New" panose="02070309020205020404" pitchFamily="49" charset="0"/>
                <a:cs typeface="Courier New" panose="02070309020205020404" pitchFamily="49" charset="0"/>
              </a:rPr>
              <a:t>MongoClient</a:t>
            </a:r>
            <a:r>
              <a:rPr lang="en-US" sz="1800" dirty="0">
                <a:latin typeface="Courier New" panose="02070309020205020404" pitchFamily="49" charset="0"/>
                <a:cs typeface="Courier New" panose="02070309020205020404" pitchFamily="49" charset="0"/>
              </a:rPr>
              <a:t> client = new </a:t>
            </a:r>
            <a:r>
              <a:rPr lang="en-US" sz="1800" dirty="0" err="1">
                <a:latin typeface="Courier New" panose="02070309020205020404" pitchFamily="49" charset="0"/>
                <a:cs typeface="Courier New" panose="02070309020205020404" pitchFamily="49" charset="0"/>
              </a:rPr>
              <a:t>MongoClient</a:t>
            </a:r>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connectionStr</a:t>
            </a:r>
            <a:r>
              <a:rPr lang="en-US" sz="1800" dirty="0">
                <a:latin typeface="Courier New" panose="02070309020205020404" pitchFamily="49" charset="0"/>
                <a:cs typeface="Courier New" panose="02070309020205020404" pitchFamily="49" charset="0"/>
              </a:rPr>
              <a:t>);</a:t>
            </a:r>
            <a:endParaRPr lang="en-CH"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84542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fr-CH" dirty="0"/>
              <a:t>MapReduce - </a:t>
            </a:r>
            <a:r>
              <a:rPr lang="fr-FR" dirty="0"/>
              <a:t>traiter en parallèle des volumes importants de données</a:t>
            </a:r>
            <a:endParaRPr lang="en-US" dirty="0"/>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a:bodyPr>
          <a:lstStyle/>
          <a:p>
            <a:pPr lvl="1"/>
            <a:endParaRPr lang="fr-CH" dirty="0"/>
          </a:p>
          <a:p>
            <a:pPr lvl="1"/>
            <a:endParaRPr lang="fr-CH" dirty="0"/>
          </a:p>
          <a:p>
            <a:pPr lvl="1"/>
            <a:endParaRPr lang="fr-CH" dirty="0"/>
          </a:p>
          <a:p>
            <a:pPr lvl="1"/>
            <a:endParaRPr lang="fr-CH" dirty="0"/>
          </a:p>
        </p:txBody>
      </p:sp>
      <p:pic>
        <p:nvPicPr>
          <p:cNvPr id="5" name="image2.png">
            <a:extLst>
              <a:ext uri="{FF2B5EF4-FFF2-40B4-BE49-F238E27FC236}">
                <a16:creationId xmlns:a16="http://schemas.microsoft.com/office/drawing/2014/main" id="{A750456D-88AF-1C95-7D69-EB4147737A59}"/>
              </a:ext>
            </a:extLst>
          </p:cNvPr>
          <p:cNvPicPr/>
          <p:nvPr/>
        </p:nvPicPr>
        <p:blipFill>
          <a:blip r:embed="rId2"/>
          <a:srcRect/>
          <a:stretch>
            <a:fillRect/>
          </a:stretch>
        </p:blipFill>
        <p:spPr>
          <a:xfrm>
            <a:off x="6096000" y="2581203"/>
            <a:ext cx="5730875" cy="1422400"/>
          </a:xfrm>
          <a:prstGeom prst="rect">
            <a:avLst/>
          </a:prstGeom>
          <a:ln/>
        </p:spPr>
      </p:pic>
      <p:pic>
        <p:nvPicPr>
          <p:cNvPr id="6" name="image3.png">
            <a:extLst>
              <a:ext uri="{FF2B5EF4-FFF2-40B4-BE49-F238E27FC236}">
                <a16:creationId xmlns:a16="http://schemas.microsoft.com/office/drawing/2014/main" id="{D72F3356-8710-F6E3-CCA0-E9141B67C1E5}"/>
              </a:ext>
            </a:extLst>
          </p:cNvPr>
          <p:cNvPicPr/>
          <p:nvPr/>
        </p:nvPicPr>
        <p:blipFill>
          <a:blip r:embed="rId3"/>
          <a:srcRect/>
          <a:stretch>
            <a:fillRect/>
          </a:stretch>
        </p:blipFill>
        <p:spPr>
          <a:xfrm>
            <a:off x="838200" y="1690688"/>
            <a:ext cx="5730875" cy="4927600"/>
          </a:xfrm>
          <a:prstGeom prst="rect">
            <a:avLst/>
          </a:prstGeom>
          <a:ln/>
        </p:spPr>
      </p:pic>
    </p:spTree>
    <p:extLst>
      <p:ext uri="{BB962C8B-B14F-4D97-AF65-F5344CB8AC3E}">
        <p14:creationId xmlns:p14="http://schemas.microsoft.com/office/powerpoint/2010/main" val="2889320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en-US" dirty="0"/>
              <a:t>Aggregation pipeline</a:t>
            </a:r>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fontScale="92500" lnSpcReduction="20000"/>
          </a:bodyPr>
          <a:lstStyle/>
          <a:p>
            <a:pPr lvl="1"/>
            <a:r>
              <a:rPr lang="fr-CH" sz="2000" dirty="0"/>
              <a:t>Références:</a:t>
            </a:r>
          </a:p>
          <a:p>
            <a:pPr lvl="2"/>
            <a:r>
              <a:rPr lang="fr-CH" sz="1600" dirty="0"/>
              <a:t>Concept: </a:t>
            </a:r>
            <a:r>
              <a:rPr lang="fr-CH" sz="1600" dirty="0">
                <a:hlinkClick r:id="rId2"/>
              </a:rPr>
              <a:t>https://www.mongodb.com/docs/manual/core/aggregation-pipeline/</a:t>
            </a:r>
            <a:endParaRPr lang="fr-CH" sz="1600" dirty="0"/>
          </a:p>
          <a:p>
            <a:pPr lvl="2"/>
            <a:r>
              <a:rPr lang="fr-CH" sz="1600" dirty="0"/>
              <a:t>Opérateurs: </a:t>
            </a:r>
            <a:r>
              <a:rPr lang="fr-CH" sz="1600" dirty="0">
                <a:hlinkClick r:id="rId3"/>
              </a:rPr>
              <a:t>https://www.mongodb.com/docs/manual/reference/mql/expressions/</a:t>
            </a:r>
            <a:endParaRPr lang="fr-CH" sz="1600" dirty="0"/>
          </a:p>
          <a:p>
            <a:pPr lvl="2"/>
            <a:endParaRPr lang="fr-CH" sz="1600" dirty="0"/>
          </a:p>
          <a:p>
            <a:pPr lvl="1"/>
            <a:r>
              <a:rPr lang="fr-CH" sz="2000" dirty="0"/>
              <a:t>Contenu</a:t>
            </a:r>
            <a:r>
              <a:rPr lang="fr-CH" sz="1800" dirty="0"/>
              <a:t> de la collection </a:t>
            </a:r>
            <a:r>
              <a:rPr lang="fr-CH" sz="1800" i="1" dirty="0" err="1"/>
              <a:t>orders</a:t>
            </a:r>
            <a:r>
              <a:rPr lang="fr-CH" sz="1800" i="1" dirty="0"/>
              <a:t>:</a:t>
            </a:r>
            <a:endParaRPr lang="fr-CH" sz="1600" dirty="0"/>
          </a:p>
          <a:p>
            <a:pPr marL="457200" lvl="1" indent="0">
              <a:buNone/>
            </a:pPr>
            <a:r>
              <a:rPr lang="fr-CH" sz="1600" dirty="0" err="1"/>
              <a:t>db.orders.insertMany</a:t>
            </a:r>
            <a:r>
              <a:rPr lang="fr-CH" sz="1600" dirty="0"/>
              <a:t>( [</a:t>
            </a:r>
          </a:p>
          <a:p>
            <a:pPr marL="457200" lvl="1" indent="0">
              <a:buNone/>
            </a:pPr>
            <a:r>
              <a:rPr lang="fr-CH" sz="1600" dirty="0"/>
              <a:t>   { _id: 0, </a:t>
            </a:r>
            <a:r>
              <a:rPr lang="fr-CH" sz="1600" dirty="0" err="1"/>
              <a:t>name</a:t>
            </a:r>
            <a:r>
              <a:rPr lang="fr-CH" sz="1600" dirty="0"/>
              <a:t>: "Pepperoni", size: "</a:t>
            </a:r>
            <a:r>
              <a:rPr lang="fr-CH" sz="1600" dirty="0" err="1"/>
              <a:t>small</a:t>
            </a:r>
            <a:r>
              <a:rPr lang="fr-CH" sz="1600" dirty="0"/>
              <a:t>", </a:t>
            </a:r>
            <a:r>
              <a:rPr lang="fr-CH" sz="1600" dirty="0" err="1"/>
              <a:t>price</a:t>
            </a:r>
            <a:r>
              <a:rPr lang="fr-CH" sz="1600" dirty="0"/>
              <a:t>: 19, </a:t>
            </a:r>
            <a:r>
              <a:rPr lang="fr-CH" sz="1600" dirty="0" err="1"/>
              <a:t>quantity</a:t>
            </a:r>
            <a:r>
              <a:rPr lang="fr-CH" sz="1600" dirty="0"/>
              <a:t>: 10, date: </a:t>
            </a:r>
            <a:r>
              <a:rPr lang="fr-CH" sz="1600" dirty="0" err="1"/>
              <a:t>ISODate</a:t>
            </a:r>
            <a:r>
              <a:rPr lang="fr-CH" sz="1600" dirty="0"/>
              <a:t>( "2021-03-13T08:14:30Z" ) },</a:t>
            </a:r>
          </a:p>
          <a:p>
            <a:pPr marL="457200" lvl="1" indent="0">
              <a:buNone/>
            </a:pPr>
            <a:r>
              <a:rPr lang="fr-CH" sz="1600" dirty="0"/>
              <a:t>   { _id: 1, </a:t>
            </a:r>
            <a:r>
              <a:rPr lang="fr-CH" sz="1600" dirty="0" err="1"/>
              <a:t>name</a:t>
            </a:r>
            <a:r>
              <a:rPr lang="fr-CH" sz="1600" dirty="0"/>
              <a:t>: "Pepperoni", size: "medium", </a:t>
            </a:r>
            <a:r>
              <a:rPr lang="fr-CH" sz="1600" dirty="0" err="1"/>
              <a:t>price</a:t>
            </a:r>
            <a:r>
              <a:rPr lang="fr-CH" sz="1600" dirty="0"/>
              <a:t>: 20, </a:t>
            </a:r>
            <a:r>
              <a:rPr lang="fr-CH" sz="1600" dirty="0" err="1"/>
              <a:t>quantity</a:t>
            </a:r>
            <a:r>
              <a:rPr lang="fr-CH" sz="1600" dirty="0"/>
              <a:t>: 20, date : </a:t>
            </a:r>
            <a:r>
              <a:rPr lang="fr-CH" sz="1600" dirty="0" err="1"/>
              <a:t>ISODate</a:t>
            </a:r>
            <a:r>
              <a:rPr lang="fr-CH" sz="1600" dirty="0"/>
              <a:t>( "2021-03-13T09:13:24Z" ) },</a:t>
            </a:r>
          </a:p>
          <a:p>
            <a:pPr marL="457200" lvl="1" indent="0">
              <a:buNone/>
            </a:pPr>
            <a:r>
              <a:rPr lang="fr-CH" sz="1600" dirty="0"/>
              <a:t>   { _id: 2, </a:t>
            </a:r>
            <a:r>
              <a:rPr lang="fr-CH" sz="1600" dirty="0" err="1"/>
              <a:t>name</a:t>
            </a:r>
            <a:r>
              <a:rPr lang="fr-CH" sz="1600" dirty="0"/>
              <a:t>: "Pepperoni", size: "large", </a:t>
            </a:r>
            <a:r>
              <a:rPr lang="fr-CH" sz="1600" dirty="0" err="1"/>
              <a:t>price</a:t>
            </a:r>
            <a:r>
              <a:rPr lang="fr-CH" sz="1600" dirty="0"/>
              <a:t>: 21, </a:t>
            </a:r>
            <a:r>
              <a:rPr lang="fr-CH" sz="1600" dirty="0" err="1"/>
              <a:t>quantity</a:t>
            </a:r>
            <a:r>
              <a:rPr lang="fr-CH" sz="1600" dirty="0"/>
              <a:t>: 30, date : </a:t>
            </a:r>
            <a:r>
              <a:rPr lang="fr-CH" sz="1600" dirty="0" err="1"/>
              <a:t>ISODate</a:t>
            </a:r>
            <a:r>
              <a:rPr lang="fr-CH" sz="1600" dirty="0"/>
              <a:t>( "2021-03-17T09:22:12Z" ) },</a:t>
            </a:r>
          </a:p>
          <a:p>
            <a:pPr marL="457200" lvl="1" indent="0">
              <a:buNone/>
            </a:pPr>
            <a:r>
              <a:rPr lang="fr-CH" sz="1600" dirty="0"/>
              <a:t>   { _id: 3, </a:t>
            </a:r>
            <a:r>
              <a:rPr lang="fr-CH" sz="1600" dirty="0" err="1"/>
              <a:t>name</a:t>
            </a:r>
            <a:r>
              <a:rPr lang="fr-CH" sz="1600" dirty="0"/>
              <a:t>: "</a:t>
            </a:r>
            <a:r>
              <a:rPr lang="fr-CH" sz="1600" dirty="0" err="1"/>
              <a:t>Cheese</a:t>
            </a:r>
            <a:r>
              <a:rPr lang="fr-CH" sz="1600" dirty="0"/>
              <a:t>", size: "</a:t>
            </a:r>
            <a:r>
              <a:rPr lang="fr-CH" sz="1600" dirty="0" err="1"/>
              <a:t>small</a:t>
            </a:r>
            <a:r>
              <a:rPr lang="fr-CH" sz="1600" dirty="0"/>
              <a:t>", </a:t>
            </a:r>
            <a:r>
              <a:rPr lang="fr-CH" sz="1600" dirty="0" err="1"/>
              <a:t>price</a:t>
            </a:r>
            <a:r>
              <a:rPr lang="fr-CH" sz="1600" dirty="0"/>
              <a:t>: 12, </a:t>
            </a:r>
            <a:r>
              <a:rPr lang="fr-CH" sz="1600" dirty="0" err="1"/>
              <a:t>quantity</a:t>
            </a:r>
            <a:r>
              <a:rPr lang="fr-CH" sz="1600" dirty="0"/>
              <a:t>: 15, date : </a:t>
            </a:r>
            <a:r>
              <a:rPr lang="fr-CH" sz="1600" dirty="0" err="1"/>
              <a:t>ISODate</a:t>
            </a:r>
            <a:r>
              <a:rPr lang="fr-CH" sz="1600" dirty="0"/>
              <a:t>( "2021-03-13T11:21:39.736Z" ) },</a:t>
            </a:r>
          </a:p>
          <a:p>
            <a:pPr marL="457200" lvl="1" indent="0">
              <a:buNone/>
            </a:pPr>
            <a:r>
              <a:rPr lang="fr-CH" sz="1600" dirty="0"/>
              <a:t>   { _id: 4, </a:t>
            </a:r>
            <a:r>
              <a:rPr lang="fr-CH" sz="1600" dirty="0" err="1"/>
              <a:t>name</a:t>
            </a:r>
            <a:r>
              <a:rPr lang="fr-CH" sz="1600" dirty="0"/>
              <a:t>: "</a:t>
            </a:r>
            <a:r>
              <a:rPr lang="fr-CH" sz="1600" dirty="0" err="1"/>
              <a:t>Cheese</a:t>
            </a:r>
            <a:r>
              <a:rPr lang="fr-CH" sz="1600" dirty="0"/>
              <a:t>", size: "medium", </a:t>
            </a:r>
            <a:r>
              <a:rPr lang="fr-CH" sz="1600" dirty="0" err="1"/>
              <a:t>price</a:t>
            </a:r>
            <a:r>
              <a:rPr lang="fr-CH" sz="1600" dirty="0"/>
              <a:t>: 13, quantity:50, date : </a:t>
            </a:r>
            <a:r>
              <a:rPr lang="fr-CH" sz="1600" dirty="0" err="1"/>
              <a:t>ISODate</a:t>
            </a:r>
            <a:r>
              <a:rPr lang="fr-CH" sz="1600" dirty="0"/>
              <a:t>( "2022-01-12T21:23:13.331Z" ) },</a:t>
            </a:r>
          </a:p>
          <a:p>
            <a:pPr marL="457200" lvl="1" indent="0">
              <a:buNone/>
            </a:pPr>
            <a:r>
              <a:rPr lang="fr-CH" sz="1600" dirty="0"/>
              <a:t>   { _id: 5, </a:t>
            </a:r>
            <a:r>
              <a:rPr lang="fr-CH" sz="1600" dirty="0" err="1"/>
              <a:t>name</a:t>
            </a:r>
            <a:r>
              <a:rPr lang="fr-CH" sz="1600" dirty="0"/>
              <a:t>: "</a:t>
            </a:r>
            <a:r>
              <a:rPr lang="fr-CH" sz="1600" dirty="0" err="1"/>
              <a:t>Cheese</a:t>
            </a:r>
            <a:r>
              <a:rPr lang="fr-CH" sz="1600" dirty="0"/>
              <a:t>", size: "large", </a:t>
            </a:r>
            <a:r>
              <a:rPr lang="fr-CH" sz="1600" dirty="0" err="1"/>
              <a:t>price</a:t>
            </a:r>
            <a:r>
              <a:rPr lang="fr-CH" sz="1600" dirty="0"/>
              <a:t>: 14, </a:t>
            </a:r>
            <a:r>
              <a:rPr lang="fr-CH" sz="1600" dirty="0" err="1"/>
              <a:t>quantity</a:t>
            </a:r>
            <a:r>
              <a:rPr lang="fr-CH" sz="1600" dirty="0"/>
              <a:t>: 10, date : </a:t>
            </a:r>
            <a:r>
              <a:rPr lang="fr-CH" sz="1600" dirty="0" err="1"/>
              <a:t>ISODate</a:t>
            </a:r>
            <a:r>
              <a:rPr lang="fr-CH" sz="1600" dirty="0"/>
              <a:t>( "2022-01-12T05:08:13Z" ) },</a:t>
            </a:r>
          </a:p>
          <a:p>
            <a:pPr marL="457200" lvl="1" indent="0">
              <a:buNone/>
            </a:pPr>
            <a:r>
              <a:rPr lang="fr-CH" sz="1600" dirty="0"/>
              <a:t>   { _id: 6, </a:t>
            </a:r>
            <a:r>
              <a:rPr lang="fr-CH" sz="1600" dirty="0" err="1"/>
              <a:t>name</a:t>
            </a:r>
            <a:r>
              <a:rPr lang="fr-CH" sz="1600" dirty="0"/>
              <a:t>: "</a:t>
            </a:r>
            <a:r>
              <a:rPr lang="fr-CH" sz="1600" dirty="0" err="1"/>
              <a:t>Vegan</a:t>
            </a:r>
            <a:r>
              <a:rPr lang="fr-CH" sz="1600" dirty="0"/>
              <a:t>", size: "</a:t>
            </a:r>
            <a:r>
              <a:rPr lang="fr-CH" sz="1600" dirty="0" err="1"/>
              <a:t>small</a:t>
            </a:r>
            <a:r>
              <a:rPr lang="fr-CH" sz="1600" dirty="0"/>
              <a:t>", </a:t>
            </a:r>
            <a:r>
              <a:rPr lang="fr-CH" sz="1600" dirty="0" err="1"/>
              <a:t>price</a:t>
            </a:r>
            <a:r>
              <a:rPr lang="fr-CH" sz="1600" dirty="0"/>
              <a:t>: 17, </a:t>
            </a:r>
            <a:r>
              <a:rPr lang="fr-CH" sz="1600" dirty="0" err="1"/>
              <a:t>quantity</a:t>
            </a:r>
            <a:r>
              <a:rPr lang="fr-CH" sz="1600" dirty="0"/>
              <a:t>: 10, date : </a:t>
            </a:r>
            <a:r>
              <a:rPr lang="fr-CH" sz="1600" dirty="0" err="1"/>
              <a:t>ISODate</a:t>
            </a:r>
            <a:r>
              <a:rPr lang="fr-CH" sz="1600" dirty="0"/>
              <a:t>( "2021-01-13T05:08:13Z" ) },</a:t>
            </a:r>
          </a:p>
          <a:p>
            <a:pPr marL="457200" lvl="1" indent="0">
              <a:buNone/>
            </a:pPr>
            <a:r>
              <a:rPr lang="fr-CH" sz="1600" dirty="0"/>
              <a:t>   { _id: 7, </a:t>
            </a:r>
            <a:r>
              <a:rPr lang="fr-CH" sz="1600" dirty="0" err="1"/>
              <a:t>name</a:t>
            </a:r>
            <a:r>
              <a:rPr lang="fr-CH" sz="1600" dirty="0"/>
              <a:t>: "</a:t>
            </a:r>
            <a:r>
              <a:rPr lang="fr-CH" sz="1600" dirty="0" err="1"/>
              <a:t>Vegan</a:t>
            </a:r>
            <a:r>
              <a:rPr lang="fr-CH" sz="1600" dirty="0"/>
              <a:t>", size: "medium", </a:t>
            </a:r>
            <a:r>
              <a:rPr lang="fr-CH" sz="1600" dirty="0" err="1"/>
              <a:t>price</a:t>
            </a:r>
            <a:r>
              <a:rPr lang="fr-CH" sz="1600" dirty="0"/>
              <a:t>: 18, </a:t>
            </a:r>
            <a:r>
              <a:rPr lang="fr-CH" sz="1600" dirty="0" err="1"/>
              <a:t>quantity</a:t>
            </a:r>
            <a:r>
              <a:rPr lang="fr-CH" sz="1600" dirty="0"/>
              <a:t>: 10, date : </a:t>
            </a:r>
            <a:r>
              <a:rPr lang="fr-CH" sz="1600" dirty="0" err="1"/>
              <a:t>ISODate</a:t>
            </a:r>
            <a:r>
              <a:rPr lang="fr-CH" sz="1600" dirty="0"/>
              <a:t>( "2021-01-13T05:10:13Z" ) }</a:t>
            </a:r>
          </a:p>
          <a:p>
            <a:pPr marL="457200" lvl="1" indent="0">
              <a:buNone/>
            </a:pPr>
            <a:r>
              <a:rPr lang="fr-CH" sz="1600" dirty="0"/>
              <a:t>] );</a:t>
            </a:r>
          </a:p>
          <a:p>
            <a:pPr marL="457200" lvl="1" indent="0">
              <a:buNone/>
            </a:pPr>
            <a:endParaRPr lang="fr-CH" sz="1600" dirty="0"/>
          </a:p>
          <a:p>
            <a:pPr lvl="1"/>
            <a:r>
              <a:rPr lang="fr-CH" sz="2000" dirty="0"/>
              <a:t>Essayer en ligne: </a:t>
            </a:r>
            <a:r>
              <a:rPr lang="fr-CH" sz="2000" dirty="0">
                <a:hlinkClick r:id="rId4"/>
              </a:rPr>
              <a:t>https://mongoplayground.net/p/A9DjZ0o8kX5</a:t>
            </a:r>
            <a:endParaRPr lang="fr-CH" sz="2000" dirty="0"/>
          </a:p>
        </p:txBody>
      </p:sp>
    </p:spTree>
    <p:extLst>
      <p:ext uri="{BB962C8B-B14F-4D97-AF65-F5344CB8AC3E}">
        <p14:creationId xmlns:p14="http://schemas.microsoft.com/office/powerpoint/2010/main" val="4047102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en-US" dirty="0"/>
              <a:t>Aggregation pipeline – </a:t>
            </a:r>
            <a:r>
              <a:rPr lang="en-US" dirty="0" err="1"/>
              <a:t>exemple</a:t>
            </a:r>
            <a:r>
              <a:rPr lang="en-US" dirty="0"/>
              <a:t> 1</a:t>
            </a:r>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p:txBody>
          <a:bodyPr>
            <a:normAutofit fontScale="62500" lnSpcReduction="20000"/>
          </a:bodyPr>
          <a:lstStyle/>
          <a:p>
            <a:pPr marL="457200" lvl="1" indent="0">
              <a:buNone/>
            </a:pPr>
            <a:r>
              <a:rPr lang="fr-CH" dirty="0" err="1"/>
              <a:t>db.orders.aggregate</a:t>
            </a:r>
            <a:r>
              <a:rPr lang="fr-CH" dirty="0"/>
              <a:t>([</a:t>
            </a:r>
          </a:p>
          <a:p>
            <a:pPr marL="457200" lvl="1" indent="0">
              <a:buNone/>
            </a:pPr>
            <a:r>
              <a:rPr lang="fr-CH" i="1" dirty="0"/>
              <a:t>   // Stage 1: filtrer les commandes: garder uniquement celle avec la taille ‘medium’</a:t>
            </a:r>
          </a:p>
          <a:p>
            <a:pPr marL="457200" lvl="1" indent="0">
              <a:buNone/>
            </a:pPr>
            <a:r>
              <a:rPr lang="fr-CH" dirty="0"/>
              <a:t>   {</a:t>
            </a:r>
          </a:p>
          <a:p>
            <a:pPr marL="457200" lvl="1" indent="0">
              <a:buNone/>
            </a:pPr>
            <a:r>
              <a:rPr lang="fr-CH" dirty="0"/>
              <a:t>      $match: { size: "medium" }</a:t>
            </a:r>
          </a:p>
          <a:p>
            <a:pPr marL="457200" lvl="1" indent="0">
              <a:buNone/>
            </a:pPr>
            <a:r>
              <a:rPr lang="fr-CH" dirty="0"/>
              <a:t>   },</a:t>
            </a:r>
          </a:p>
          <a:p>
            <a:pPr marL="457200" lvl="1" indent="0">
              <a:buNone/>
            </a:pPr>
            <a:r>
              <a:rPr lang="fr-CH" dirty="0"/>
              <a:t>   </a:t>
            </a:r>
            <a:r>
              <a:rPr lang="fr-CH" i="1" dirty="0"/>
              <a:t>// Stage 2: regrouper les commandes restantes par nom de pizza et calculer la quantité totale</a:t>
            </a:r>
          </a:p>
          <a:p>
            <a:pPr marL="457200" lvl="1" indent="0">
              <a:buNone/>
            </a:pPr>
            <a:r>
              <a:rPr lang="fr-CH" dirty="0"/>
              <a:t>   {</a:t>
            </a:r>
          </a:p>
          <a:p>
            <a:pPr marL="457200" lvl="1" indent="0">
              <a:buNone/>
            </a:pPr>
            <a:r>
              <a:rPr lang="fr-CH" dirty="0"/>
              <a:t>      $group: { _id: "$</a:t>
            </a:r>
            <a:r>
              <a:rPr lang="fr-CH" dirty="0" err="1"/>
              <a:t>name</a:t>
            </a:r>
            <a:r>
              <a:rPr lang="fr-CH" dirty="0"/>
              <a:t>", </a:t>
            </a:r>
            <a:r>
              <a:rPr lang="fr-CH" dirty="0" err="1"/>
              <a:t>totalQuantity</a:t>
            </a:r>
            <a:r>
              <a:rPr lang="fr-CH" dirty="0"/>
              <a:t>: { $</a:t>
            </a:r>
            <a:r>
              <a:rPr lang="fr-CH" dirty="0" err="1"/>
              <a:t>sum</a:t>
            </a:r>
            <a:r>
              <a:rPr lang="fr-CH" dirty="0"/>
              <a:t>: "$</a:t>
            </a:r>
            <a:r>
              <a:rPr lang="fr-CH" dirty="0" err="1"/>
              <a:t>quantity</a:t>
            </a:r>
            <a:r>
              <a:rPr lang="fr-CH" dirty="0"/>
              <a:t>" } }</a:t>
            </a:r>
          </a:p>
          <a:p>
            <a:pPr marL="457200" lvl="1" indent="0">
              <a:buNone/>
            </a:pPr>
            <a:r>
              <a:rPr lang="fr-CH" dirty="0"/>
              <a:t>   }</a:t>
            </a:r>
          </a:p>
          <a:p>
            <a:pPr marL="457200" lvl="1" indent="0">
              <a:buNone/>
            </a:pPr>
            <a:r>
              <a:rPr lang="fr-CH" dirty="0"/>
              <a:t>]);</a:t>
            </a:r>
          </a:p>
          <a:p>
            <a:pPr marL="457200" lvl="1" indent="0">
              <a:buNone/>
            </a:pPr>
            <a:endParaRPr lang="fr-CH" dirty="0"/>
          </a:p>
          <a:p>
            <a:pPr marL="457200" lvl="1" indent="0">
              <a:buNone/>
            </a:pPr>
            <a:r>
              <a:rPr lang="fr-CH" b="1" dirty="0"/>
              <a:t>Résultat</a:t>
            </a:r>
            <a:r>
              <a:rPr lang="fr-CH" dirty="0"/>
              <a:t> (pas de tri =&gt; ordre pouvant être différent):</a:t>
            </a:r>
          </a:p>
          <a:p>
            <a:pPr marL="457200" lvl="1" indent="0">
              <a:buNone/>
            </a:pPr>
            <a:r>
              <a:rPr lang="fr-CH" dirty="0"/>
              <a:t>[</a:t>
            </a:r>
          </a:p>
          <a:p>
            <a:pPr marL="457200" lvl="1" indent="0">
              <a:buNone/>
            </a:pPr>
            <a:r>
              <a:rPr lang="fr-CH" dirty="0"/>
              <a:t>   { _id: '</a:t>
            </a:r>
            <a:r>
              <a:rPr lang="fr-CH" dirty="0" err="1"/>
              <a:t>Cheese</a:t>
            </a:r>
            <a:r>
              <a:rPr lang="fr-CH" dirty="0"/>
              <a:t>', </a:t>
            </a:r>
            <a:r>
              <a:rPr lang="fr-CH" dirty="0" err="1"/>
              <a:t>totalQuantity</a:t>
            </a:r>
            <a:r>
              <a:rPr lang="fr-CH" dirty="0"/>
              <a:t>: 50 },</a:t>
            </a:r>
          </a:p>
          <a:p>
            <a:pPr marL="457200" lvl="1" indent="0">
              <a:buNone/>
            </a:pPr>
            <a:r>
              <a:rPr lang="fr-CH" dirty="0"/>
              <a:t>   { _id: '</a:t>
            </a:r>
            <a:r>
              <a:rPr lang="fr-CH" dirty="0" err="1"/>
              <a:t>Vegan</a:t>
            </a:r>
            <a:r>
              <a:rPr lang="fr-CH" dirty="0"/>
              <a:t>', </a:t>
            </a:r>
            <a:r>
              <a:rPr lang="fr-CH" dirty="0" err="1"/>
              <a:t>totalQuantity</a:t>
            </a:r>
            <a:r>
              <a:rPr lang="fr-CH" dirty="0"/>
              <a:t>: 10 },</a:t>
            </a:r>
          </a:p>
          <a:p>
            <a:pPr marL="457200" lvl="1" indent="0">
              <a:buNone/>
            </a:pPr>
            <a:r>
              <a:rPr lang="fr-CH" dirty="0"/>
              <a:t>   { _id: 'Pepperoni', </a:t>
            </a:r>
            <a:r>
              <a:rPr lang="fr-CH" dirty="0" err="1"/>
              <a:t>totalQuantity</a:t>
            </a:r>
            <a:r>
              <a:rPr lang="fr-CH" dirty="0"/>
              <a:t>: 20 }</a:t>
            </a:r>
          </a:p>
          <a:p>
            <a:pPr marL="457200" lvl="1" indent="0">
              <a:buNone/>
            </a:pPr>
            <a:r>
              <a:rPr lang="fr-CH" dirty="0"/>
              <a:t>]</a:t>
            </a:r>
          </a:p>
          <a:p>
            <a:pPr marL="457200" lvl="1" indent="0">
              <a:buNone/>
            </a:pPr>
            <a:endParaRPr lang="fr-CH" dirty="0"/>
          </a:p>
          <a:p>
            <a:pPr marL="457200" lvl="1" indent="0">
              <a:buNone/>
            </a:pPr>
            <a:r>
              <a:rPr lang="fr-CH" dirty="0">
                <a:hlinkClick r:id="rId2"/>
              </a:rPr>
              <a:t>https://mongoplayground.net/p/RbuFVlawV3b</a:t>
            </a:r>
            <a:r>
              <a:rPr lang="fr-CH" dirty="0"/>
              <a:t> </a:t>
            </a:r>
          </a:p>
        </p:txBody>
      </p:sp>
    </p:spTree>
    <p:extLst>
      <p:ext uri="{BB962C8B-B14F-4D97-AF65-F5344CB8AC3E}">
        <p14:creationId xmlns:p14="http://schemas.microsoft.com/office/powerpoint/2010/main" val="2297572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C5AD2-CCF4-B4A5-D0A1-10B2D3A14751}"/>
              </a:ext>
            </a:extLst>
          </p:cNvPr>
          <p:cNvSpPr>
            <a:spLocks noGrp="1"/>
          </p:cNvSpPr>
          <p:nvPr>
            <p:ph type="title"/>
          </p:nvPr>
        </p:nvSpPr>
        <p:spPr/>
        <p:txBody>
          <a:bodyPr/>
          <a:lstStyle/>
          <a:p>
            <a:r>
              <a:rPr lang="en-US" dirty="0"/>
              <a:t>Aggregation pipeline – </a:t>
            </a:r>
            <a:r>
              <a:rPr lang="en-US" dirty="0" err="1"/>
              <a:t>exemple</a:t>
            </a:r>
            <a:r>
              <a:rPr lang="en-US" dirty="0"/>
              <a:t> 2</a:t>
            </a:r>
          </a:p>
        </p:txBody>
      </p:sp>
      <p:sp>
        <p:nvSpPr>
          <p:cNvPr id="3" name="Espace réservé du contenu 2">
            <a:extLst>
              <a:ext uri="{FF2B5EF4-FFF2-40B4-BE49-F238E27FC236}">
                <a16:creationId xmlns:a16="http://schemas.microsoft.com/office/drawing/2014/main" id="{9DE5764C-06AD-EBA3-AF09-AE0CC7A46487}"/>
              </a:ext>
            </a:extLst>
          </p:cNvPr>
          <p:cNvSpPr>
            <a:spLocks noGrp="1"/>
          </p:cNvSpPr>
          <p:nvPr>
            <p:ph idx="1"/>
          </p:nvPr>
        </p:nvSpPr>
        <p:spPr>
          <a:xfrm>
            <a:off x="838200" y="1825625"/>
            <a:ext cx="5257800" cy="4351338"/>
          </a:xfrm>
        </p:spPr>
        <p:txBody>
          <a:bodyPr>
            <a:normAutofit fontScale="47500" lnSpcReduction="20000"/>
          </a:bodyPr>
          <a:lstStyle/>
          <a:p>
            <a:pPr marL="457200" lvl="1" indent="0">
              <a:buNone/>
            </a:pPr>
            <a:r>
              <a:rPr lang="fr-CH" dirty="0" err="1"/>
              <a:t>db.orders.aggregate</a:t>
            </a:r>
            <a:r>
              <a:rPr lang="fr-CH" dirty="0"/>
              <a:t>([</a:t>
            </a:r>
          </a:p>
          <a:p>
            <a:pPr marL="457200" lvl="1" indent="0">
              <a:buNone/>
            </a:pPr>
            <a:r>
              <a:rPr lang="fr-CH" dirty="0"/>
              <a:t>   </a:t>
            </a:r>
            <a:r>
              <a:rPr lang="fr-CH" i="1" dirty="0"/>
              <a:t>// Stage 1: filtrer les commandes avec une fourchette de dates</a:t>
            </a:r>
          </a:p>
          <a:p>
            <a:pPr marL="457200" lvl="1" indent="0">
              <a:buNone/>
            </a:pPr>
            <a:r>
              <a:rPr lang="fr-CH" dirty="0"/>
              <a:t>   {</a:t>
            </a:r>
          </a:p>
          <a:p>
            <a:pPr marL="457200" lvl="1" indent="0">
              <a:buNone/>
            </a:pPr>
            <a:r>
              <a:rPr lang="fr-CH" dirty="0"/>
              <a:t>      $match:</a:t>
            </a:r>
          </a:p>
          <a:p>
            <a:pPr marL="457200" lvl="1" indent="0">
              <a:buNone/>
            </a:pPr>
            <a:r>
              <a:rPr lang="fr-CH" dirty="0"/>
              <a:t>      {</a:t>
            </a:r>
          </a:p>
          <a:p>
            <a:pPr marL="457200" lvl="1" indent="0">
              <a:buNone/>
            </a:pPr>
            <a:r>
              <a:rPr lang="fr-CH" dirty="0"/>
              <a:t>         "date": { $</a:t>
            </a:r>
            <a:r>
              <a:rPr lang="fr-CH" dirty="0" err="1"/>
              <a:t>gte</a:t>
            </a:r>
            <a:r>
              <a:rPr lang="fr-CH" dirty="0"/>
              <a:t>: </a:t>
            </a:r>
            <a:r>
              <a:rPr lang="fr-CH" dirty="0" err="1"/>
              <a:t>ISODate</a:t>
            </a:r>
            <a:r>
              <a:rPr lang="fr-CH" dirty="0"/>
              <a:t>( "2021-01-13" ),</a:t>
            </a:r>
          </a:p>
          <a:p>
            <a:pPr marL="457200" lvl="1" indent="0">
              <a:buNone/>
            </a:pPr>
            <a:r>
              <a:rPr lang="fr-CH" dirty="0"/>
              <a:t>                         $</a:t>
            </a:r>
            <a:r>
              <a:rPr lang="fr-CH" dirty="0" err="1"/>
              <a:t>lt</a:t>
            </a:r>
            <a:r>
              <a:rPr lang="fr-CH" dirty="0"/>
              <a:t>: </a:t>
            </a:r>
            <a:r>
              <a:rPr lang="fr-CH" dirty="0" err="1"/>
              <a:t>ISODate</a:t>
            </a:r>
            <a:r>
              <a:rPr lang="fr-CH" dirty="0"/>
              <a:t>( "2021-03-14" ) }</a:t>
            </a:r>
          </a:p>
          <a:p>
            <a:pPr marL="457200" lvl="1" indent="0">
              <a:buNone/>
            </a:pPr>
            <a:r>
              <a:rPr lang="fr-CH" dirty="0"/>
              <a:t>      }</a:t>
            </a:r>
          </a:p>
          <a:p>
            <a:pPr marL="457200" lvl="1" indent="0">
              <a:buNone/>
            </a:pPr>
            <a:r>
              <a:rPr lang="fr-CH" dirty="0"/>
              <a:t>   },</a:t>
            </a:r>
          </a:p>
          <a:p>
            <a:pPr marL="457200" lvl="1" indent="0">
              <a:buNone/>
            </a:pPr>
            <a:r>
              <a:rPr lang="fr-CH" i="1" dirty="0"/>
              <a:t>   // Stage 2: grouper par date (jour entier) et calculer le résultat</a:t>
            </a:r>
          </a:p>
          <a:p>
            <a:pPr marL="457200" lvl="1" indent="0">
              <a:buNone/>
            </a:pPr>
            <a:r>
              <a:rPr lang="fr-CH" dirty="0"/>
              <a:t>   {</a:t>
            </a:r>
          </a:p>
          <a:p>
            <a:pPr marL="457200" lvl="1" indent="0">
              <a:buNone/>
            </a:pPr>
            <a:r>
              <a:rPr lang="fr-CH" dirty="0"/>
              <a:t>      $group:</a:t>
            </a:r>
          </a:p>
          <a:p>
            <a:pPr marL="457200" lvl="1" indent="0">
              <a:buNone/>
            </a:pPr>
            <a:r>
              <a:rPr lang="fr-CH" dirty="0"/>
              <a:t>      {</a:t>
            </a:r>
          </a:p>
          <a:p>
            <a:pPr marL="457200" lvl="1" indent="0">
              <a:buNone/>
            </a:pPr>
            <a:r>
              <a:rPr lang="fr-CH" dirty="0"/>
              <a:t>         _id: { $</a:t>
            </a:r>
            <a:r>
              <a:rPr lang="fr-CH" dirty="0" err="1"/>
              <a:t>dateToString</a:t>
            </a:r>
            <a:r>
              <a:rPr lang="fr-CH" dirty="0"/>
              <a:t>: { format: "%Y-%m-%d", date: "$date" } },</a:t>
            </a:r>
          </a:p>
          <a:p>
            <a:pPr marL="457200" lvl="1" indent="0">
              <a:buNone/>
            </a:pPr>
            <a:r>
              <a:rPr lang="fr-CH" dirty="0"/>
              <a:t>         </a:t>
            </a:r>
            <a:r>
              <a:rPr lang="fr-CH" dirty="0" err="1"/>
              <a:t>totalOrderValue</a:t>
            </a:r>
            <a:r>
              <a:rPr lang="fr-CH" dirty="0"/>
              <a:t>: { $</a:t>
            </a:r>
            <a:r>
              <a:rPr lang="fr-CH" dirty="0" err="1"/>
              <a:t>sum</a:t>
            </a:r>
            <a:r>
              <a:rPr lang="fr-CH" dirty="0"/>
              <a:t>: { $</a:t>
            </a:r>
            <a:r>
              <a:rPr lang="fr-CH" dirty="0" err="1"/>
              <a:t>multiply</a:t>
            </a:r>
            <a:r>
              <a:rPr lang="fr-CH" dirty="0"/>
              <a:t>: [ "$</a:t>
            </a:r>
            <a:r>
              <a:rPr lang="fr-CH" dirty="0" err="1"/>
              <a:t>price</a:t>
            </a:r>
            <a:r>
              <a:rPr lang="fr-CH" dirty="0"/>
              <a:t>", "$</a:t>
            </a:r>
            <a:r>
              <a:rPr lang="fr-CH" dirty="0" err="1"/>
              <a:t>quantity</a:t>
            </a:r>
            <a:r>
              <a:rPr lang="fr-CH" dirty="0"/>
              <a:t>" ] } },</a:t>
            </a:r>
          </a:p>
          <a:p>
            <a:pPr marL="457200" lvl="1" indent="0">
              <a:buNone/>
            </a:pPr>
            <a:r>
              <a:rPr lang="fr-CH" dirty="0"/>
              <a:t>         </a:t>
            </a:r>
            <a:r>
              <a:rPr lang="fr-CH" dirty="0" err="1"/>
              <a:t>averageOrderQuantity</a:t>
            </a:r>
            <a:r>
              <a:rPr lang="fr-CH" dirty="0"/>
              <a:t>: { $</a:t>
            </a:r>
            <a:r>
              <a:rPr lang="fr-CH" dirty="0" err="1"/>
              <a:t>avg</a:t>
            </a:r>
            <a:r>
              <a:rPr lang="fr-CH" dirty="0"/>
              <a:t>: "$</a:t>
            </a:r>
            <a:r>
              <a:rPr lang="fr-CH" dirty="0" err="1"/>
              <a:t>quantity</a:t>
            </a:r>
            <a:r>
              <a:rPr lang="fr-CH" dirty="0"/>
              <a:t>" }</a:t>
            </a:r>
          </a:p>
          <a:p>
            <a:pPr marL="457200" lvl="1" indent="0">
              <a:buNone/>
            </a:pPr>
            <a:r>
              <a:rPr lang="fr-CH" dirty="0"/>
              <a:t>      }</a:t>
            </a:r>
          </a:p>
          <a:p>
            <a:pPr marL="457200" lvl="1" indent="0">
              <a:buNone/>
            </a:pPr>
            <a:r>
              <a:rPr lang="fr-CH" dirty="0"/>
              <a:t>   },</a:t>
            </a:r>
          </a:p>
          <a:p>
            <a:pPr marL="457200" lvl="1" indent="0">
              <a:buNone/>
            </a:pPr>
            <a:r>
              <a:rPr lang="fr-CH" i="1" dirty="0"/>
              <a:t>   // Stage 3: trier les résultats par le </a:t>
            </a:r>
            <a:r>
              <a:rPr lang="fr-CH" i="1"/>
              <a:t>total décroissant (-1)</a:t>
            </a:r>
            <a:endParaRPr lang="fr-CH" i="1" dirty="0"/>
          </a:p>
          <a:p>
            <a:pPr marL="457200" lvl="1" indent="0">
              <a:buNone/>
            </a:pPr>
            <a:r>
              <a:rPr lang="fr-CH" dirty="0"/>
              <a:t>   {</a:t>
            </a:r>
          </a:p>
          <a:p>
            <a:pPr marL="457200" lvl="1" indent="0">
              <a:buNone/>
            </a:pPr>
            <a:r>
              <a:rPr lang="fr-CH" dirty="0"/>
              <a:t>      $sort: { </a:t>
            </a:r>
            <a:r>
              <a:rPr lang="fr-CH" dirty="0" err="1"/>
              <a:t>totalOrderValue</a:t>
            </a:r>
            <a:r>
              <a:rPr lang="fr-CH" dirty="0"/>
              <a:t>: -1 }</a:t>
            </a:r>
          </a:p>
          <a:p>
            <a:pPr marL="457200" lvl="1" indent="0">
              <a:buNone/>
            </a:pPr>
            <a:r>
              <a:rPr lang="fr-CH" dirty="0"/>
              <a:t>   }</a:t>
            </a:r>
          </a:p>
          <a:p>
            <a:pPr marL="457200" lvl="1" indent="0">
              <a:buNone/>
            </a:pPr>
            <a:r>
              <a:rPr lang="fr-CH" dirty="0"/>
              <a:t> ]);</a:t>
            </a:r>
          </a:p>
        </p:txBody>
      </p:sp>
      <p:sp>
        <p:nvSpPr>
          <p:cNvPr id="4" name="Espace réservé du contenu 2">
            <a:extLst>
              <a:ext uri="{FF2B5EF4-FFF2-40B4-BE49-F238E27FC236}">
                <a16:creationId xmlns:a16="http://schemas.microsoft.com/office/drawing/2014/main" id="{B728FE25-2488-A93A-32F4-22A90AF9FAAA}"/>
              </a:ext>
            </a:extLst>
          </p:cNvPr>
          <p:cNvSpPr txBox="1">
            <a:spLocks/>
          </p:cNvSpPr>
          <p:nvPr/>
        </p:nvSpPr>
        <p:spPr>
          <a:xfrm>
            <a:off x="6096000" y="1825625"/>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CH" sz="1200" b="1" dirty="0"/>
              <a:t>Résultat</a:t>
            </a:r>
            <a:r>
              <a:rPr lang="fr-CH" sz="1200" dirty="0"/>
              <a:t>:</a:t>
            </a:r>
          </a:p>
          <a:p>
            <a:pPr marL="457200" lvl="1" indent="0">
              <a:buFont typeface="Arial" panose="020B0604020202020204" pitchFamily="34" charset="0"/>
              <a:buNone/>
            </a:pPr>
            <a:r>
              <a:rPr lang="fr-CH" sz="1200" dirty="0"/>
              <a:t>[</a:t>
            </a:r>
          </a:p>
          <a:p>
            <a:pPr marL="457200" lvl="1" indent="0">
              <a:buFont typeface="Arial" panose="020B0604020202020204" pitchFamily="34" charset="0"/>
              <a:buNone/>
            </a:pPr>
            <a:r>
              <a:rPr lang="fr-CH" sz="1200" dirty="0"/>
              <a:t>  { _id: '2021-03-13', </a:t>
            </a:r>
            <a:r>
              <a:rPr lang="fr-CH" sz="1200" dirty="0" err="1"/>
              <a:t>totalOrderValue</a:t>
            </a:r>
            <a:r>
              <a:rPr lang="fr-CH" sz="1200" dirty="0"/>
              <a:t>: 770, </a:t>
            </a:r>
            <a:r>
              <a:rPr lang="fr-CH" sz="1200" dirty="0" err="1"/>
              <a:t>averageOrderQuantity</a:t>
            </a:r>
            <a:r>
              <a:rPr lang="fr-CH" sz="1200" dirty="0"/>
              <a:t>: 15 },</a:t>
            </a:r>
          </a:p>
          <a:p>
            <a:pPr marL="457200" lvl="1" indent="0">
              <a:buFont typeface="Arial" panose="020B0604020202020204" pitchFamily="34" charset="0"/>
              <a:buNone/>
            </a:pPr>
            <a:r>
              <a:rPr lang="fr-CH" sz="1200" dirty="0"/>
              <a:t>  { _id: '2021-01-13', </a:t>
            </a:r>
            <a:r>
              <a:rPr lang="fr-CH" sz="1200" dirty="0" err="1"/>
              <a:t>totalOrderValue</a:t>
            </a:r>
            <a:r>
              <a:rPr lang="fr-CH" sz="1200" dirty="0"/>
              <a:t>: 350, </a:t>
            </a:r>
            <a:r>
              <a:rPr lang="fr-CH" sz="1200" dirty="0" err="1"/>
              <a:t>averageOrderQuantity</a:t>
            </a:r>
            <a:r>
              <a:rPr lang="fr-CH" sz="1200" dirty="0"/>
              <a:t>: 10 }</a:t>
            </a:r>
          </a:p>
          <a:p>
            <a:pPr marL="457200" lvl="1" indent="0">
              <a:buFont typeface="Arial" panose="020B0604020202020204" pitchFamily="34" charset="0"/>
              <a:buNone/>
            </a:pPr>
            <a:r>
              <a:rPr lang="fr-CH" sz="1200" dirty="0"/>
              <a:t>]</a:t>
            </a:r>
          </a:p>
          <a:p>
            <a:pPr marL="457200" lvl="1" indent="0">
              <a:buFont typeface="Arial" panose="020B0604020202020204" pitchFamily="34" charset="0"/>
              <a:buNone/>
            </a:pPr>
            <a:endParaRPr lang="fr-CH" sz="1200" dirty="0"/>
          </a:p>
          <a:p>
            <a:pPr marL="457200" lvl="1" indent="0">
              <a:buNone/>
            </a:pPr>
            <a:r>
              <a:rPr lang="fr-CH" sz="1200" dirty="0">
                <a:hlinkClick r:id="rId2"/>
              </a:rPr>
              <a:t>https://mongoplayground.net/p/8YC4Ll_m3W0</a:t>
            </a:r>
            <a:r>
              <a:rPr lang="fr-CH" sz="1200" dirty="0"/>
              <a:t> </a:t>
            </a:r>
          </a:p>
        </p:txBody>
      </p:sp>
    </p:spTree>
    <p:extLst>
      <p:ext uri="{BB962C8B-B14F-4D97-AF65-F5344CB8AC3E}">
        <p14:creationId xmlns:p14="http://schemas.microsoft.com/office/powerpoint/2010/main" val="32276178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C247A-3BAD-8231-AA3C-603C54B5017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6385B99-C89D-2D29-5C60-492D17C8C42E}"/>
              </a:ext>
            </a:extLst>
          </p:cNvPr>
          <p:cNvSpPr>
            <a:spLocks noGrp="1"/>
          </p:cNvSpPr>
          <p:nvPr>
            <p:ph type="title"/>
          </p:nvPr>
        </p:nvSpPr>
        <p:spPr/>
        <p:txBody>
          <a:bodyPr/>
          <a:lstStyle/>
          <a:p>
            <a:r>
              <a:rPr lang="en-US" dirty="0"/>
              <a:t>Aggregation pipeline – </a:t>
            </a:r>
            <a:r>
              <a:rPr lang="en-US" dirty="0" err="1"/>
              <a:t>exemple</a:t>
            </a:r>
            <a:r>
              <a:rPr lang="en-US" dirty="0"/>
              <a:t> 1 </a:t>
            </a:r>
            <a:r>
              <a:rPr lang="en-US" dirty="0" err="1"/>
              <a:t>en</a:t>
            </a:r>
            <a:r>
              <a:rPr lang="en-US" dirty="0"/>
              <a:t> C#</a:t>
            </a:r>
          </a:p>
        </p:txBody>
      </p:sp>
      <p:sp>
        <p:nvSpPr>
          <p:cNvPr id="3" name="Espace réservé du contenu 2">
            <a:extLst>
              <a:ext uri="{FF2B5EF4-FFF2-40B4-BE49-F238E27FC236}">
                <a16:creationId xmlns:a16="http://schemas.microsoft.com/office/drawing/2014/main" id="{AD41368B-1B20-00EE-77E9-EE5BE40609A7}"/>
              </a:ext>
            </a:extLst>
          </p:cNvPr>
          <p:cNvSpPr>
            <a:spLocks noGrp="1"/>
          </p:cNvSpPr>
          <p:nvPr>
            <p:ph idx="1"/>
          </p:nvPr>
        </p:nvSpPr>
        <p:spPr/>
        <p:txBody>
          <a:bodyPr>
            <a:normAutofit fontScale="70000" lnSpcReduction="20000"/>
          </a:bodyPr>
          <a:lstStyle/>
          <a:p>
            <a:pPr marL="457200" lvl="1" indent="0">
              <a:buNone/>
            </a:pPr>
            <a:r>
              <a:rPr lang="en-US" dirty="0" err="1"/>
              <a:t>BsonDocument</a:t>
            </a:r>
            <a:r>
              <a:rPr lang="en-US" dirty="0"/>
              <a:t> </a:t>
            </a:r>
            <a:r>
              <a:rPr lang="en-US" dirty="0" err="1"/>
              <a:t>matchStage</a:t>
            </a:r>
            <a:r>
              <a:rPr lang="en-US" dirty="0"/>
              <a:t> = new </a:t>
            </a:r>
            <a:r>
              <a:rPr lang="en-US" dirty="0" err="1"/>
              <a:t>BsonDocument</a:t>
            </a:r>
            <a:r>
              <a:rPr lang="en-US" dirty="0"/>
              <a:t>(</a:t>
            </a:r>
            <a:br>
              <a:rPr lang="en-US" dirty="0"/>
            </a:br>
            <a:r>
              <a:rPr lang="en-US" dirty="0"/>
              <a:t>    "$match",</a:t>
            </a:r>
            <a:br>
              <a:rPr lang="en-US" dirty="0"/>
            </a:br>
            <a:r>
              <a:rPr lang="en-US" dirty="0"/>
              <a:t>    new </a:t>
            </a:r>
            <a:r>
              <a:rPr lang="en-US" dirty="0" err="1"/>
              <a:t>BsonDocument</a:t>
            </a:r>
            <a:r>
              <a:rPr lang="en-US" dirty="0"/>
              <a:t>("size", "medium")</a:t>
            </a:r>
            <a:br>
              <a:rPr lang="en-US" dirty="0"/>
            </a:br>
            <a:r>
              <a:rPr lang="en-US" dirty="0"/>
              <a:t>);</a:t>
            </a:r>
            <a:br>
              <a:rPr lang="en-US" dirty="0"/>
            </a:br>
            <a:br>
              <a:rPr lang="en-US" dirty="0"/>
            </a:br>
            <a:r>
              <a:rPr lang="en-US" dirty="0" err="1"/>
              <a:t>BsonDocument</a:t>
            </a:r>
            <a:r>
              <a:rPr lang="en-US" dirty="0"/>
              <a:t> </a:t>
            </a:r>
            <a:r>
              <a:rPr lang="en-US" dirty="0" err="1"/>
              <a:t>groupStage</a:t>
            </a:r>
            <a:r>
              <a:rPr lang="en-US" dirty="0"/>
              <a:t> = new </a:t>
            </a:r>
            <a:r>
              <a:rPr lang="en-US" dirty="0" err="1"/>
              <a:t>BsonDocument</a:t>
            </a:r>
            <a:r>
              <a:rPr lang="en-US" dirty="0"/>
              <a:t>(</a:t>
            </a:r>
            <a:br>
              <a:rPr lang="en-US" dirty="0"/>
            </a:br>
            <a:r>
              <a:rPr lang="en-US" dirty="0"/>
              <a:t>    "$group",</a:t>
            </a:r>
            <a:br>
              <a:rPr lang="en-US" dirty="0"/>
            </a:br>
            <a:r>
              <a:rPr lang="en-US" dirty="0"/>
              <a:t>    new </a:t>
            </a:r>
            <a:r>
              <a:rPr lang="en-US" dirty="0" err="1"/>
              <a:t>BsonDocument</a:t>
            </a:r>
            <a:br>
              <a:rPr lang="en-US" dirty="0"/>
            </a:br>
            <a:r>
              <a:rPr lang="en-US" dirty="0"/>
              <a:t>    {</a:t>
            </a:r>
            <a:br>
              <a:rPr lang="en-US" dirty="0"/>
            </a:br>
            <a:r>
              <a:rPr lang="en-US" dirty="0"/>
              <a:t>        { "_id", "$name" },</a:t>
            </a:r>
            <a:br>
              <a:rPr lang="en-US" dirty="0"/>
            </a:br>
            <a:r>
              <a:rPr lang="en-US" dirty="0"/>
              <a:t>        { "</a:t>
            </a:r>
            <a:r>
              <a:rPr lang="en-US" dirty="0" err="1"/>
              <a:t>totalQuantity</a:t>
            </a:r>
            <a:r>
              <a:rPr lang="en-US" dirty="0"/>
              <a:t>", new </a:t>
            </a:r>
            <a:r>
              <a:rPr lang="en-US" dirty="0" err="1"/>
              <a:t>BsonDocument</a:t>
            </a:r>
            <a:r>
              <a:rPr lang="en-US" dirty="0"/>
              <a:t>("$sum", "$quantity") }</a:t>
            </a:r>
            <a:br>
              <a:rPr lang="en-US" dirty="0"/>
            </a:br>
            <a:r>
              <a:rPr lang="en-US" dirty="0"/>
              <a:t>    }</a:t>
            </a:r>
            <a:br>
              <a:rPr lang="en-US" dirty="0"/>
            </a:br>
            <a:r>
              <a:rPr lang="en-US" dirty="0"/>
              <a:t>);</a:t>
            </a:r>
            <a:br>
              <a:rPr lang="en-US" dirty="0"/>
            </a:br>
            <a:br>
              <a:rPr lang="en-US" dirty="0"/>
            </a:br>
            <a:r>
              <a:rPr lang="en-US" dirty="0" err="1"/>
              <a:t>BsonDocument</a:t>
            </a:r>
            <a:r>
              <a:rPr lang="en-US" dirty="0"/>
              <a:t>[] pipeline = new </a:t>
            </a:r>
            <a:r>
              <a:rPr lang="en-US" dirty="0" err="1"/>
              <a:t>BsonDocument</a:t>
            </a:r>
            <a:r>
              <a:rPr lang="en-US" dirty="0"/>
              <a:t>[]</a:t>
            </a:r>
            <a:br>
              <a:rPr lang="en-US" dirty="0"/>
            </a:br>
            <a:r>
              <a:rPr lang="en-US" dirty="0"/>
              <a:t>{</a:t>
            </a:r>
            <a:br>
              <a:rPr lang="en-US" dirty="0"/>
            </a:br>
            <a:r>
              <a:rPr lang="en-US" dirty="0"/>
              <a:t>    </a:t>
            </a:r>
            <a:r>
              <a:rPr lang="en-US" dirty="0" err="1"/>
              <a:t>matchStage</a:t>
            </a:r>
            <a:r>
              <a:rPr lang="en-US" dirty="0"/>
              <a:t>,</a:t>
            </a:r>
            <a:br>
              <a:rPr lang="en-US" dirty="0"/>
            </a:br>
            <a:r>
              <a:rPr lang="en-US" dirty="0"/>
              <a:t>    </a:t>
            </a:r>
            <a:r>
              <a:rPr lang="en-US" dirty="0" err="1"/>
              <a:t>groupStage</a:t>
            </a:r>
            <a:br>
              <a:rPr lang="en-US" dirty="0"/>
            </a:br>
            <a:r>
              <a:rPr lang="en-US" dirty="0"/>
              <a:t>};</a:t>
            </a:r>
            <a:br>
              <a:rPr lang="en-US" dirty="0"/>
            </a:br>
            <a:br>
              <a:rPr lang="en-US" dirty="0"/>
            </a:br>
            <a:r>
              <a:rPr lang="en-US" dirty="0" err="1"/>
              <a:t>IAsyncCursor</a:t>
            </a:r>
            <a:r>
              <a:rPr lang="en-US" dirty="0"/>
              <a:t>&lt;</a:t>
            </a:r>
            <a:r>
              <a:rPr lang="en-US" dirty="0" err="1"/>
              <a:t>BsonDocument</a:t>
            </a:r>
            <a:r>
              <a:rPr lang="en-US" dirty="0"/>
              <a:t>&gt; cursor = await </a:t>
            </a:r>
            <a:r>
              <a:rPr lang="en-US" dirty="0" err="1"/>
              <a:t>collection.AggregateAsync</a:t>
            </a:r>
            <a:r>
              <a:rPr lang="en-US" dirty="0"/>
              <a:t>&lt;</a:t>
            </a:r>
            <a:r>
              <a:rPr lang="en-US" dirty="0" err="1"/>
              <a:t>BsonDocument</a:t>
            </a:r>
            <a:r>
              <a:rPr lang="en-US" dirty="0"/>
              <a:t>&gt;(pipeline);</a:t>
            </a:r>
            <a:br>
              <a:rPr lang="en-US" dirty="0"/>
            </a:br>
            <a:r>
              <a:rPr lang="en-US" dirty="0"/>
              <a:t>List&lt;</a:t>
            </a:r>
            <a:r>
              <a:rPr lang="en-US" dirty="0" err="1"/>
              <a:t>BsonDocument</a:t>
            </a:r>
            <a:r>
              <a:rPr lang="en-US" dirty="0"/>
              <a:t>&gt; results = await </a:t>
            </a:r>
            <a:r>
              <a:rPr lang="en-US" dirty="0" err="1"/>
              <a:t>cursor.ToListAsync</a:t>
            </a:r>
            <a:r>
              <a:rPr lang="en-US" dirty="0"/>
              <a:t>();</a:t>
            </a:r>
          </a:p>
        </p:txBody>
      </p:sp>
    </p:spTree>
    <p:extLst>
      <p:ext uri="{BB962C8B-B14F-4D97-AF65-F5344CB8AC3E}">
        <p14:creationId xmlns:p14="http://schemas.microsoft.com/office/powerpoint/2010/main" val="41234270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BD059-167E-D4D2-C5DD-32DBE878279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025EF98-F8DA-4B48-D03F-CF9B470A3872}"/>
              </a:ext>
            </a:extLst>
          </p:cNvPr>
          <p:cNvSpPr>
            <a:spLocks noGrp="1"/>
          </p:cNvSpPr>
          <p:nvPr>
            <p:ph type="title"/>
          </p:nvPr>
        </p:nvSpPr>
        <p:spPr/>
        <p:txBody>
          <a:bodyPr/>
          <a:lstStyle/>
          <a:p>
            <a:r>
              <a:rPr lang="en-US" dirty="0"/>
              <a:t>Aggregation pipeline – </a:t>
            </a:r>
            <a:r>
              <a:rPr lang="en-US" dirty="0" err="1"/>
              <a:t>exemple</a:t>
            </a:r>
            <a:r>
              <a:rPr lang="en-US" dirty="0"/>
              <a:t> 2 </a:t>
            </a:r>
            <a:r>
              <a:rPr lang="en-US" dirty="0" err="1"/>
              <a:t>en</a:t>
            </a:r>
            <a:r>
              <a:rPr lang="en-US" dirty="0"/>
              <a:t> C#</a:t>
            </a:r>
          </a:p>
        </p:txBody>
      </p:sp>
      <p:sp>
        <p:nvSpPr>
          <p:cNvPr id="3" name="Espace réservé du contenu 2">
            <a:extLst>
              <a:ext uri="{FF2B5EF4-FFF2-40B4-BE49-F238E27FC236}">
                <a16:creationId xmlns:a16="http://schemas.microsoft.com/office/drawing/2014/main" id="{0CFB3315-0567-790E-ACB2-96999EC36730}"/>
              </a:ext>
            </a:extLst>
          </p:cNvPr>
          <p:cNvSpPr>
            <a:spLocks noGrp="1"/>
          </p:cNvSpPr>
          <p:nvPr>
            <p:ph idx="1"/>
          </p:nvPr>
        </p:nvSpPr>
        <p:spPr>
          <a:xfrm>
            <a:off x="838200" y="1825625"/>
            <a:ext cx="3838303" cy="4351338"/>
          </a:xfrm>
        </p:spPr>
        <p:txBody>
          <a:bodyPr>
            <a:normAutofit fontScale="40000" lnSpcReduction="20000"/>
          </a:bodyPr>
          <a:lstStyle/>
          <a:p>
            <a:pPr marL="457200" lvl="1" indent="0">
              <a:buNone/>
            </a:pPr>
            <a:r>
              <a:rPr lang="en-US" dirty="0" err="1"/>
              <a:t>DateTime</a:t>
            </a:r>
            <a:r>
              <a:rPr lang="en-US" dirty="0"/>
              <a:t> </a:t>
            </a:r>
            <a:r>
              <a:rPr lang="en-US" dirty="0" err="1"/>
              <a:t>startDate</a:t>
            </a:r>
            <a:r>
              <a:rPr lang="en-US" dirty="0"/>
              <a:t> = new </a:t>
            </a:r>
            <a:r>
              <a:rPr lang="en-US" dirty="0" err="1"/>
              <a:t>DateTime</a:t>
            </a:r>
            <a:r>
              <a:rPr lang="en-US" dirty="0"/>
              <a:t>(2021, 1, 13);</a:t>
            </a:r>
            <a:br>
              <a:rPr lang="en-US" dirty="0"/>
            </a:br>
            <a:r>
              <a:rPr lang="en-US" dirty="0" err="1"/>
              <a:t>DateTime</a:t>
            </a:r>
            <a:r>
              <a:rPr lang="en-US" dirty="0"/>
              <a:t> </a:t>
            </a:r>
            <a:r>
              <a:rPr lang="en-US" dirty="0" err="1"/>
              <a:t>endDate</a:t>
            </a:r>
            <a:r>
              <a:rPr lang="en-US" dirty="0"/>
              <a:t> = new </a:t>
            </a:r>
            <a:r>
              <a:rPr lang="en-US" dirty="0" err="1"/>
              <a:t>DateTime</a:t>
            </a:r>
            <a:r>
              <a:rPr lang="en-US" dirty="0"/>
              <a:t>(2021, 3, 14);</a:t>
            </a:r>
            <a:br>
              <a:rPr lang="en-US" dirty="0"/>
            </a:br>
            <a:br>
              <a:rPr lang="en-US" dirty="0"/>
            </a:br>
            <a:r>
              <a:rPr lang="en-US" dirty="0" err="1"/>
              <a:t>BsonDocument</a:t>
            </a:r>
            <a:r>
              <a:rPr lang="en-US" dirty="0"/>
              <a:t> </a:t>
            </a:r>
            <a:r>
              <a:rPr lang="en-US" dirty="0" err="1"/>
              <a:t>dateFilter</a:t>
            </a:r>
            <a:r>
              <a:rPr lang="en-US" dirty="0"/>
              <a:t> = new </a:t>
            </a:r>
            <a:r>
              <a:rPr lang="en-US" dirty="0" err="1"/>
              <a:t>BsonDocument</a:t>
            </a:r>
            <a:br>
              <a:rPr lang="en-US" dirty="0"/>
            </a:br>
            <a:r>
              <a:rPr lang="en-US" dirty="0"/>
              <a:t>{</a:t>
            </a:r>
            <a:br>
              <a:rPr lang="en-US" dirty="0"/>
            </a:br>
            <a:r>
              <a:rPr lang="en-US" dirty="0"/>
              <a:t>    { "$</a:t>
            </a:r>
            <a:r>
              <a:rPr lang="en-US" dirty="0" err="1"/>
              <a:t>gte</a:t>
            </a:r>
            <a:r>
              <a:rPr lang="en-US" dirty="0"/>
              <a:t>", </a:t>
            </a:r>
            <a:r>
              <a:rPr lang="en-US" dirty="0" err="1"/>
              <a:t>startDate</a:t>
            </a:r>
            <a:r>
              <a:rPr lang="en-US" dirty="0"/>
              <a:t> },</a:t>
            </a:r>
            <a:br>
              <a:rPr lang="en-US" dirty="0"/>
            </a:br>
            <a:r>
              <a:rPr lang="en-US" dirty="0"/>
              <a:t>    { "$</a:t>
            </a:r>
            <a:r>
              <a:rPr lang="en-US" dirty="0" err="1"/>
              <a:t>lt</a:t>
            </a:r>
            <a:r>
              <a:rPr lang="en-US" dirty="0"/>
              <a:t>", </a:t>
            </a:r>
            <a:r>
              <a:rPr lang="en-US" dirty="0" err="1"/>
              <a:t>endDate</a:t>
            </a:r>
            <a:r>
              <a:rPr lang="en-US" dirty="0"/>
              <a:t> }</a:t>
            </a:r>
            <a:br>
              <a:rPr lang="en-US" dirty="0"/>
            </a:br>
            <a:r>
              <a:rPr lang="en-US" dirty="0"/>
              <a:t>};</a:t>
            </a:r>
            <a:br>
              <a:rPr lang="en-US" dirty="0"/>
            </a:br>
            <a:br>
              <a:rPr lang="en-US" dirty="0"/>
            </a:br>
            <a:r>
              <a:rPr lang="en-US" dirty="0" err="1"/>
              <a:t>BsonDocument</a:t>
            </a:r>
            <a:r>
              <a:rPr lang="en-US" dirty="0"/>
              <a:t> </a:t>
            </a:r>
            <a:r>
              <a:rPr lang="en-US" dirty="0" err="1"/>
              <a:t>matchStage</a:t>
            </a:r>
            <a:r>
              <a:rPr lang="en-US" dirty="0"/>
              <a:t> = new </a:t>
            </a:r>
            <a:r>
              <a:rPr lang="en-US" dirty="0" err="1"/>
              <a:t>BsonDocument</a:t>
            </a:r>
            <a:r>
              <a:rPr lang="en-US" dirty="0"/>
              <a:t>(</a:t>
            </a:r>
            <a:br>
              <a:rPr lang="en-US" dirty="0"/>
            </a:br>
            <a:r>
              <a:rPr lang="en-US" dirty="0"/>
              <a:t>    "$match",</a:t>
            </a:r>
            <a:br>
              <a:rPr lang="en-US" dirty="0"/>
            </a:br>
            <a:r>
              <a:rPr lang="en-US" dirty="0"/>
              <a:t>    new </a:t>
            </a:r>
            <a:r>
              <a:rPr lang="en-US" dirty="0" err="1"/>
              <a:t>BsonDocument</a:t>
            </a:r>
            <a:r>
              <a:rPr lang="en-US" dirty="0"/>
              <a:t>("date", </a:t>
            </a:r>
            <a:r>
              <a:rPr lang="en-US" dirty="0" err="1"/>
              <a:t>dateFilter</a:t>
            </a:r>
            <a:r>
              <a:rPr lang="en-US" dirty="0"/>
              <a:t>)</a:t>
            </a:r>
            <a:br>
              <a:rPr lang="en-US" dirty="0"/>
            </a:br>
            <a:r>
              <a:rPr lang="en-US" dirty="0"/>
              <a:t>);</a:t>
            </a:r>
            <a:br>
              <a:rPr lang="en-US" dirty="0"/>
            </a:br>
            <a:br>
              <a:rPr lang="en-US" dirty="0"/>
            </a:br>
            <a:r>
              <a:rPr lang="en-US" dirty="0" err="1"/>
              <a:t>BsonDocument</a:t>
            </a:r>
            <a:r>
              <a:rPr lang="en-US" dirty="0"/>
              <a:t> </a:t>
            </a:r>
            <a:r>
              <a:rPr lang="en-US" dirty="0" err="1"/>
              <a:t>groupStage</a:t>
            </a:r>
            <a:r>
              <a:rPr lang="en-US" dirty="0"/>
              <a:t> = new </a:t>
            </a:r>
            <a:r>
              <a:rPr lang="en-US" dirty="0" err="1"/>
              <a:t>BsonDocument</a:t>
            </a:r>
            <a:r>
              <a:rPr lang="en-US" dirty="0"/>
              <a:t>(</a:t>
            </a:r>
            <a:br>
              <a:rPr lang="en-US" dirty="0"/>
            </a:br>
            <a:r>
              <a:rPr lang="en-US" dirty="0"/>
              <a:t>    "$group",</a:t>
            </a:r>
            <a:br>
              <a:rPr lang="en-US" dirty="0"/>
            </a:br>
            <a:r>
              <a:rPr lang="en-US" dirty="0"/>
              <a:t>    new </a:t>
            </a:r>
            <a:r>
              <a:rPr lang="en-US" dirty="0" err="1"/>
              <a:t>BsonDocument</a:t>
            </a:r>
            <a:br>
              <a:rPr lang="en-US" dirty="0"/>
            </a:br>
            <a:r>
              <a:rPr lang="en-US" dirty="0"/>
              <a:t>    {</a:t>
            </a:r>
            <a:br>
              <a:rPr lang="en-US" dirty="0"/>
            </a:br>
            <a:r>
              <a:rPr lang="en-US" dirty="0"/>
              <a:t>        {</a:t>
            </a:r>
            <a:br>
              <a:rPr lang="en-US" dirty="0"/>
            </a:br>
            <a:r>
              <a:rPr lang="en-US" dirty="0"/>
              <a:t>            "_id",</a:t>
            </a:r>
            <a:br>
              <a:rPr lang="en-US" dirty="0"/>
            </a:br>
            <a:r>
              <a:rPr lang="en-US" dirty="0"/>
              <a:t>            new </a:t>
            </a:r>
            <a:r>
              <a:rPr lang="en-US" dirty="0" err="1"/>
              <a:t>BsonDocument</a:t>
            </a:r>
            <a:r>
              <a:rPr lang="en-US" dirty="0"/>
              <a:t>("$</a:t>
            </a:r>
            <a:r>
              <a:rPr lang="en-US" dirty="0" err="1"/>
              <a:t>dateToString</a:t>
            </a:r>
            <a:r>
              <a:rPr lang="en-US" dirty="0"/>
              <a:t>",</a:t>
            </a:r>
            <a:br>
              <a:rPr lang="en-US" dirty="0"/>
            </a:br>
            <a:r>
              <a:rPr lang="en-US" dirty="0"/>
              <a:t>                new </a:t>
            </a:r>
            <a:r>
              <a:rPr lang="en-US" dirty="0" err="1"/>
              <a:t>BsonDocument</a:t>
            </a:r>
            <a:br>
              <a:rPr lang="en-US" dirty="0"/>
            </a:br>
            <a:r>
              <a:rPr lang="en-US" dirty="0"/>
              <a:t>                {</a:t>
            </a:r>
            <a:br>
              <a:rPr lang="en-US" dirty="0"/>
            </a:br>
            <a:r>
              <a:rPr lang="en-US" dirty="0"/>
              <a:t>                    { "format", "%Y-%m-%d" },</a:t>
            </a:r>
            <a:br>
              <a:rPr lang="en-US" dirty="0"/>
            </a:br>
            <a:r>
              <a:rPr lang="en-US" dirty="0"/>
              <a:t>                    { "date", "$date" }</a:t>
            </a:r>
            <a:br>
              <a:rPr lang="en-US" dirty="0"/>
            </a:br>
            <a:r>
              <a:rPr lang="en-US" dirty="0"/>
              <a:t>                })</a:t>
            </a:r>
            <a:br>
              <a:rPr lang="en-US" dirty="0"/>
            </a:br>
            <a:r>
              <a:rPr lang="en-US" dirty="0"/>
              <a:t>        },</a:t>
            </a:r>
            <a:br>
              <a:rPr lang="en-US" dirty="0"/>
            </a:br>
            <a:r>
              <a:rPr lang="en-US" dirty="0"/>
              <a:t>        {</a:t>
            </a:r>
            <a:br>
              <a:rPr lang="en-US" dirty="0"/>
            </a:br>
            <a:r>
              <a:rPr lang="en-US" dirty="0"/>
              <a:t>            "</a:t>
            </a:r>
            <a:r>
              <a:rPr lang="en-US" dirty="0" err="1"/>
              <a:t>totalOrderValue</a:t>
            </a:r>
            <a:r>
              <a:rPr lang="en-US" dirty="0"/>
              <a:t>",</a:t>
            </a:r>
            <a:br>
              <a:rPr lang="en-US" dirty="0"/>
            </a:br>
            <a:r>
              <a:rPr lang="en-US" dirty="0"/>
              <a:t>            new </a:t>
            </a:r>
            <a:r>
              <a:rPr lang="en-US" dirty="0" err="1"/>
              <a:t>BsonDocument</a:t>
            </a:r>
            <a:r>
              <a:rPr lang="en-US" dirty="0"/>
              <a:t>("$sum",</a:t>
            </a:r>
            <a:br>
              <a:rPr lang="en-US" dirty="0"/>
            </a:br>
            <a:r>
              <a:rPr lang="en-US" dirty="0"/>
              <a:t>                new </a:t>
            </a:r>
            <a:r>
              <a:rPr lang="en-US" dirty="0" err="1"/>
              <a:t>BsonDocument</a:t>
            </a:r>
            <a:r>
              <a:rPr lang="en-US" dirty="0"/>
              <a:t>("$multiply",</a:t>
            </a:r>
            <a:br>
              <a:rPr lang="en-US" dirty="0"/>
            </a:br>
            <a:r>
              <a:rPr lang="en-US" dirty="0"/>
              <a:t>                    new </a:t>
            </a:r>
            <a:r>
              <a:rPr lang="en-US" dirty="0" err="1"/>
              <a:t>BsonArray</a:t>
            </a:r>
            <a:r>
              <a:rPr lang="en-US" dirty="0"/>
              <a:t> { "$price", "$quantity" }))</a:t>
            </a:r>
            <a:br>
              <a:rPr lang="en-US" dirty="0"/>
            </a:br>
            <a:r>
              <a:rPr lang="en-US" dirty="0"/>
              <a:t>        },</a:t>
            </a:r>
            <a:br>
              <a:rPr lang="en-US" dirty="0"/>
            </a:br>
            <a:r>
              <a:rPr lang="en-US" dirty="0"/>
              <a:t>        {</a:t>
            </a:r>
            <a:br>
              <a:rPr lang="en-US" dirty="0"/>
            </a:br>
            <a:r>
              <a:rPr lang="en-US" dirty="0"/>
              <a:t>            "</a:t>
            </a:r>
            <a:r>
              <a:rPr lang="en-US" dirty="0" err="1"/>
              <a:t>averageOrderQuantity</a:t>
            </a:r>
            <a:r>
              <a:rPr lang="en-US" dirty="0"/>
              <a:t>",</a:t>
            </a:r>
            <a:br>
              <a:rPr lang="en-US" dirty="0"/>
            </a:br>
            <a:r>
              <a:rPr lang="en-US" dirty="0"/>
              <a:t>            new </a:t>
            </a:r>
            <a:r>
              <a:rPr lang="en-US" dirty="0" err="1"/>
              <a:t>BsonDocument</a:t>
            </a:r>
            <a:r>
              <a:rPr lang="en-US" dirty="0"/>
              <a:t>("$avg", "$quantity")</a:t>
            </a:r>
            <a:br>
              <a:rPr lang="en-US" dirty="0"/>
            </a:br>
            <a:r>
              <a:rPr lang="en-US" dirty="0"/>
              <a:t>        }</a:t>
            </a:r>
            <a:br>
              <a:rPr lang="en-US" dirty="0"/>
            </a:br>
            <a:r>
              <a:rPr lang="en-US" dirty="0"/>
              <a:t>    }</a:t>
            </a:r>
            <a:br>
              <a:rPr lang="en-US" dirty="0"/>
            </a:br>
            <a:r>
              <a:rPr lang="en-US" dirty="0"/>
              <a:t>);</a:t>
            </a:r>
            <a:endParaRPr lang="fr-CH" dirty="0"/>
          </a:p>
        </p:txBody>
      </p:sp>
      <p:sp>
        <p:nvSpPr>
          <p:cNvPr id="4" name="Espace réservé du contenu 2">
            <a:extLst>
              <a:ext uri="{FF2B5EF4-FFF2-40B4-BE49-F238E27FC236}">
                <a16:creationId xmlns:a16="http://schemas.microsoft.com/office/drawing/2014/main" id="{B9B20DDA-BA44-4CFD-AC6F-5A32D6422DEA}"/>
              </a:ext>
            </a:extLst>
          </p:cNvPr>
          <p:cNvSpPr txBox="1">
            <a:spLocks/>
          </p:cNvSpPr>
          <p:nvPr/>
        </p:nvSpPr>
        <p:spPr>
          <a:xfrm>
            <a:off x="5225142" y="1825625"/>
            <a:ext cx="593924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1000" dirty="0" err="1"/>
              <a:t>BsonDocument</a:t>
            </a:r>
            <a:r>
              <a:rPr lang="en-US" sz="1000" dirty="0"/>
              <a:t> </a:t>
            </a:r>
            <a:r>
              <a:rPr lang="en-US" sz="1000" dirty="0" err="1"/>
              <a:t>sortStage</a:t>
            </a:r>
            <a:r>
              <a:rPr lang="en-US" sz="1000" dirty="0"/>
              <a:t> = new </a:t>
            </a:r>
            <a:r>
              <a:rPr lang="en-US" sz="1000" dirty="0" err="1"/>
              <a:t>BsonDocument</a:t>
            </a:r>
            <a:r>
              <a:rPr lang="en-US" sz="1000" dirty="0"/>
              <a:t>(</a:t>
            </a:r>
            <a:br>
              <a:rPr lang="en-US" sz="1000" dirty="0"/>
            </a:br>
            <a:r>
              <a:rPr lang="en-US" sz="1000" dirty="0"/>
              <a:t>    "$sort",</a:t>
            </a:r>
            <a:br>
              <a:rPr lang="en-US" sz="1000" dirty="0"/>
            </a:br>
            <a:r>
              <a:rPr lang="en-US" sz="1000" dirty="0"/>
              <a:t>    new </a:t>
            </a:r>
            <a:r>
              <a:rPr lang="en-US" sz="1000" dirty="0" err="1"/>
              <a:t>BsonDocument</a:t>
            </a:r>
            <a:r>
              <a:rPr lang="en-US" sz="1000" dirty="0"/>
              <a:t>("</a:t>
            </a:r>
            <a:r>
              <a:rPr lang="en-US" sz="1000" dirty="0" err="1"/>
              <a:t>totalOrderValue</a:t>
            </a:r>
            <a:r>
              <a:rPr lang="en-US" sz="1000" dirty="0"/>
              <a:t>", -1)</a:t>
            </a:r>
            <a:br>
              <a:rPr lang="en-US" sz="1000" dirty="0"/>
            </a:br>
            <a:r>
              <a:rPr lang="en-US" sz="1000" dirty="0"/>
              <a:t>);</a:t>
            </a:r>
            <a:br>
              <a:rPr lang="en-US" sz="1000" dirty="0"/>
            </a:br>
            <a:br>
              <a:rPr lang="en-US" sz="1000" dirty="0"/>
            </a:br>
            <a:r>
              <a:rPr lang="en-US" sz="1000" dirty="0" err="1"/>
              <a:t>BsonDocument</a:t>
            </a:r>
            <a:r>
              <a:rPr lang="en-US" sz="1000" dirty="0"/>
              <a:t>[] pipeline = new </a:t>
            </a:r>
            <a:r>
              <a:rPr lang="en-US" sz="1000" dirty="0" err="1"/>
              <a:t>BsonDocument</a:t>
            </a:r>
            <a:r>
              <a:rPr lang="en-US" sz="1000" dirty="0"/>
              <a:t>[]</a:t>
            </a:r>
            <a:br>
              <a:rPr lang="en-US" sz="1000" dirty="0"/>
            </a:br>
            <a:r>
              <a:rPr lang="en-US" sz="1000" dirty="0"/>
              <a:t>{</a:t>
            </a:r>
            <a:br>
              <a:rPr lang="en-US" sz="1000" dirty="0"/>
            </a:br>
            <a:r>
              <a:rPr lang="en-US" sz="1000" dirty="0"/>
              <a:t>    </a:t>
            </a:r>
            <a:r>
              <a:rPr lang="en-US" sz="1000" dirty="0" err="1"/>
              <a:t>matchStage</a:t>
            </a:r>
            <a:r>
              <a:rPr lang="en-US" sz="1000" dirty="0"/>
              <a:t>,</a:t>
            </a:r>
            <a:br>
              <a:rPr lang="en-US" sz="1000" dirty="0"/>
            </a:br>
            <a:r>
              <a:rPr lang="en-US" sz="1000" dirty="0"/>
              <a:t>    </a:t>
            </a:r>
            <a:r>
              <a:rPr lang="en-US" sz="1000" dirty="0" err="1"/>
              <a:t>groupStage</a:t>
            </a:r>
            <a:r>
              <a:rPr lang="en-US" sz="1000" dirty="0"/>
              <a:t>,</a:t>
            </a:r>
            <a:br>
              <a:rPr lang="en-US" sz="1000" dirty="0"/>
            </a:br>
            <a:r>
              <a:rPr lang="en-US" sz="1000" dirty="0"/>
              <a:t>    </a:t>
            </a:r>
            <a:r>
              <a:rPr lang="en-US" sz="1000" dirty="0" err="1"/>
              <a:t>sortStage</a:t>
            </a:r>
            <a:br>
              <a:rPr lang="en-US" sz="1000" dirty="0"/>
            </a:br>
            <a:r>
              <a:rPr lang="en-US" sz="1000" dirty="0"/>
              <a:t>};</a:t>
            </a:r>
            <a:br>
              <a:rPr lang="en-US" sz="1000" dirty="0"/>
            </a:br>
            <a:br>
              <a:rPr lang="en-US" sz="1000" dirty="0"/>
            </a:br>
            <a:r>
              <a:rPr lang="en-US" sz="1000" dirty="0" err="1"/>
              <a:t>IAsyncCursor</a:t>
            </a:r>
            <a:r>
              <a:rPr lang="en-US" sz="1000" dirty="0"/>
              <a:t>&lt;</a:t>
            </a:r>
            <a:r>
              <a:rPr lang="en-US" sz="1000" dirty="0" err="1"/>
              <a:t>BsonDocument</a:t>
            </a:r>
            <a:r>
              <a:rPr lang="en-US" sz="1000" dirty="0"/>
              <a:t>&gt; cursor = await </a:t>
            </a:r>
            <a:r>
              <a:rPr lang="en-US" sz="1000" dirty="0" err="1"/>
              <a:t>collection.AggregateAsync</a:t>
            </a:r>
            <a:r>
              <a:rPr lang="en-US" sz="1000" dirty="0"/>
              <a:t>&lt;</a:t>
            </a:r>
            <a:r>
              <a:rPr lang="en-US" sz="1000" dirty="0" err="1"/>
              <a:t>BsonDocument</a:t>
            </a:r>
            <a:r>
              <a:rPr lang="en-US" sz="1000" dirty="0"/>
              <a:t>&gt;(pipeline);</a:t>
            </a:r>
            <a:br>
              <a:rPr lang="en-US" sz="1000" dirty="0"/>
            </a:br>
            <a:r>
              <a:rPr lang="en-US" sz="1000" dirty="0"/>
              <a:t>List&lt;</a:t>
            </a:r>
            <a:r>
              <a:rPr lang="en-US" sz="1000" dirty="0" err="1"/>
              <a:t>BsonDocument</a:t>
            </a:r>
            <a:r>
              <a:rPr lang="en-US" sz="1000" dirty="0"/>
              <a:t>&gt; results = await </a:t>
            </a:r>
            <a:r>
              <a:rPr lang="en-US" sz="1000" dirty="0" err="1"/>
              <a:t>cursor.ToListAsync</a:t>
            </a:r>
            <a:r>
              <a:rPr lang="en-US" sz="1000" dirty="0"/>
              <a:t>();</a:t>
            </a:r>
            <a:endParaRPr lang="fr-CH" sz="1000" dirty="0"/>
          </a:p>
        </p:txBody>
      </p:sp>
    </p:spTree>
    <p:extLst>
      <p:ext uri="{BB962C8B-B14F-4D97-AF65-F5344CB8AC3E}">
        <p14:creationId xmlns:p14="http://schemas.microsoft.com/office/powerpoint/2010/main" val="182828019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634</TotalTime>
  <Words>2618</Words>
  <Application>Microsoft Office PowerPoint</Application>
  <PresentationFormat>Widescreen</PresentationFormat>
  <Paragraphs>168</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Courier New</vt:lpstr>
      <vt:lpstr>Thème Office</vt:lpstr>
      <vt:lpstr>M165 - NoSQL</vt:lpstr>
      <vt:lpstr>Organisation du module</vt:lpstr>
      <vt:lpstr>Prérequis</vt:lpstr>
      <vt:lpstr>Structures d’indexation</vt:lpstr>
      <vt:lpstr>CAP – Consistency Availability Partitioning</vt:lpstr>
      <vt:lpstr>CAP – Consistency Availability Partitioning</vt:lpstr>
      <vt:lpstr>CAP – exemple système CP</vt:lpstr>
      <vt:lpstr>CAP – exemple système CA</vt:lpstr>
      <vt:lpstr>CAP – exemple système AP</vt:lpstr>
      <vt:lpstr>XA – eXtended Architecture</vt:lpstr>
      <vt:lpstr>ACID – Atomicity Consistency Isolation Durability</vt:lpstr>
      <vt:lpstr>BASE – Basically Available Soft state Eventual consistency</vt:lpstr>
      <vt:lpstr>Isolation des transactions</vt:lpstr>
      <vt:lpstr>Isolation des transactions</vt:lpstr>
      <vt:lpstr>Plusieurs serveurs pour la même application</vt:lpstr>
      <vt:lpstr>Synchronisation des données</vt:lpstr>
      <vt:lpstr>Scalability (augmentation des capacités)</vt:lpstr>
      <vt:lpstr>Scalability (augmentation des capacités)</vt:lpstr>
      <vt:lpstr>Réplication avec MongoDB</vt:lpstr>
      <vt:lpstr>Réplication avec MongoDB</vt:lpstr>
      <vt:lpstr>Réplication avec MongoDB</vt:lpstr>
      <vt:lpstr>Réplication avec MongoDB</vt:lpstr>
      <vt:lpstr>MapReduce - traiter en parallèle des volumes importants de données</vt:lpstr>
      <vt:lpstr>Aggregation pipeline</vt:lpstr>
      <vt:lpstr>Aggregation pipeline – exemple 1</vt:lpstr>
      <vt:lpstr>Aggregation pipeline – exemple 2</vt:lpstr>
      <vt:lpstr>Aggregation pipeline – exemple 1 en C#</vt:lpstr>
      <vt:lpstr>Aggregation pipeline – exemple 2 en 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M165 - NoSQL</dc:title>
  <dc:creator>Michaël</dc:creator>
  <cp:lastModifiedBy>Mathieu Michaël</cp:lastModifiedBy>
  <cp:revision>76</cp:revision>
  <dcterms:created xsi:type="dcterms:W3CDTF">2022-10-26T12:19:28Z</dcterms:created>
  <dcterms:modified xsi:type="dcterms:W3CDTF">2026-02-11T08:29:18Z</dcterms:modified>
</cp:coreProperties>
</file>